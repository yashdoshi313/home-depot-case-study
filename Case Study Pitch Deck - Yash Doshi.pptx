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5" r:id="rId9"/>
    <p:sldId id="266" r:id="rId10"/>
    <p:sldId id="267" r:id="rId11"/>
    <p:sldId id="25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Sales TY</c:v>
                </c:pt>
              </c:strCache>
            </c:strRef>
          </c:tx>
          <c:spPr>
            <a:solidFill>
              <a:srgbClr val="F9630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12</c:v>
                </c:pt>
                <c:pt idx="1">
                  <c:v>SKU 16</c:v>
                </c:pt>
                <c:pt idx="2">
                  <c:v>SKU 6</c:v>
                </c:pt>
                <c:pt idx="3">
                  <c:v>SKU 18</c:v>
                </c:pt>
                <c:pt idx="4">
                  <c:v>SKU 20</c:v>
                </c:pt>
                <c:pt idx="5">
                  <c:v>SKU 7</c:v>
                </c:pt>
                <c:pt idx="6">
                  <c:v>SKU 5</c:v>
                </c:pt>
                <c:pt idx="7">
                  <c:v>SKU 2</c:v>
                </c:pt>
                <c:pt idx="8">
                  <c:v>SKU 3</c:v>
                </c:pt>
                <c:pt idx="9">
                  <c:v>SKU 19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724774</c:v>
                </c:pt>
                <c:pt idx="1">
                  <c:v>612579</c:v>
                </c:pt>
                <c:pt idx="2">
                  <c:v>454616</c:v>
                </c:pt>
                <c:pt idx="3">
                  <c:v>406600</c:v>
                </c:pt>
                <c:pt idx="4">
                  <c:v>389975</c:v>
                </c:pt>
                <c:pt idx="5">
                  <c:v>380452</c:v>
                </c:pt>
                <c:pt idx="6">
                  <c:v>324954</c:v>
                </c:pt>
                <c:pt idx="7">
                  <c:v>319308</c:v>
                </c:pt>
                <c:pt idx="8">
                  <c:v>193248</c:v>
                </c:pt>
                <c:pt idx="9">
                  <c:v>185040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D-40B1-95D1-EB969467D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 Sales LY</c:v>
                </c:pt>
              </c:strCache>
            </c:strRef>
          </c:tx>
          <c:spPr>
            <a:solidFill>
              <a:srgbClr val="1B4F9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12</c:v>
                </c:pt>
                <c:pt idx="1">
                  <c:v>SKU 16</c:v>
                </c:pt>
                <c:pt idx="2">
                  <c:v>SKU 6</c:v>
                </c:pt>
                <c:pt idx="3">
                  <c:v>SKU 18</c:v>
                </c:pt>
                <c:pt idx="4">
                  <c:v>SKU 20</c:v>
                </c:pt>
                <c:pt idx="5">
                  <c:v>SKU 7</c:v>
                </c:pt>
                <c:pt idx="6">
                  <c:v>SKU 5</c:v>
                </c:pt>
                <c:pt idx="7">
                  <c:v>SKU 2</c:v>
                </c:pt>
                <c:pt idx="8">
                  <c:v>SKU 3</c:v>
                </c:pt>
                <c:pt idx="9">
                  <c:v>SKU 19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581258</c:v>
                </c:pt>
                <c:pt idx="1">
                  <c:v>567196</c:v>
                </c:pt>
                <c:pt idx="2">
                  <c:v>424874</c:v>
                </c:pt>
                <c:pt idx="3">
                  <c:v>380898</c:v>
                </c:pt>
                <c:pt idx="4">
                  <c:v>368318</c:v>
                </c:pt>
                <c:pt idx="5">
                  <c:v>356962</c:v>
                </c:pt>
                <c:pt idx="6">
                  <c:v>302545</c:v>
                </c:pt>
                <c:pt idx="7">
                  <c:v>301072</c:v>
                </c:pt>
                <c:pt idx="8">
                  <c:v>184153</c:v>
                </c:pt>
                <c:pt idx="9">
                  <c:v>154073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D-40B1-95D1-EB969467DD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 b="1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Visits TY</c:v>
                </c:pt>
              </c:strCache>
            </c:strRef>
          </c:tx>
          <c:spPr>
            <a:solidFill>
              <a:srgbClr val="F9630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15</c:v>
                </c:pt>
                <c:pt idx="1">
                  <c:v>SKU 16</c:v>
                </c:pt>
                <c:pt idx="2">
                  <c:v>SKU 17</c:v>
                </c:pt>
                <c:pt idx="3">
                  <c:v>SKU 14</c:v>
                </c:pt>
                <c:pt idx="4">
                  <c:v>SKU 18</c:v>
                </c:pt>
                <c:pt idx="5">
                  <c:v>SKU 12</c:v>
                </c:pt>
                <c:pt idx="6">
                  <c:v>SKU 19</c:v>
                </c:pt>
                <c:pt idx="7">
                  <c:v>SKU 6</c:v>
                </c:pt>
                <c:pt idx="8">
                  <c:v>SKU 1</c:v>
                </c:pt>
                <c:pt idx="9">
                  <c:v>SKU 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117298</c:v>
                </c:pt>
                <c:pt idx="1">
                  <c:v>118087</c:v>
                </c:pt>
                <c:pt idx="2">
                  <c:v>114611</c:v>
                </c:pt>
                <c:pt idx="3">
                  <c:v>106769</c:v>
                </c:pt>
                <c:pt idx="4">
                  <c:v>101479</c:v>
                </c:pt>
                <c:pt idx="5">
                  <c:v>99906</c:v>
                </c:pt>
                <c:pt idx="6">
                  <c:v>100642</c:v>
                </c:pt>
                <c:pt idx="7">
                  <c:v>91026</c:v>
                </c:pt>
                <c:pt idx="8">
                  <c:v>78390</c:v>
                </c:pt>
                <c:pt idx="9">
                  <c:v>76697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C-4C14-B058-CB2718324C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/>
                  <a:t>SKU</a:t>
                </a:r>
                <a:r>
                  <a:rPr lang="en-US" baseline="0" dirty="0"/>
                  <a:t> ID</a:t>
                </a:r>
                <a:endParaRPr lang="en-IN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00"/>
          <c:min val="0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TY Online</a:t>
                </a:r>
                <a:r>
                  <a:rPr lang="en-IN" baseline="0" dirty="0"/>
                  <a:t> </a:t>
                </a:r>
                <a:r>
                  <a:rPr lang="en-IN" dirty="0"/>
                  <a:t>Visits 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9630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22634994077167"/>
          <c:y val="0.16061263044088686"/>
          <c:w val="0.82414919927102026"/>
          <c:h val="0.6073346112086255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TY (%)</c:v>
                </c:pt>
              </c:strCache>
            </c:strRef>
          </c:tx>
          <c:spPr>
            <a:ln w="31750" cap="flat">
              <a:solidFill>
                <a:srgbClr val="1B4F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9B"/>
              </a:solidFill>
              <a:ln w="9525" cap="flat">
                <a:solidFill>
                  <a:srgbClr val="1B4F9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SKU 15</c:v>
                </c:pt>
                <c:pt idx="1">
                  <c:v>SKU 16</c:v>
                </c:pt>
                <c:pt idx="2">
                  <c:v>SKU 17</c:v>
                </c:pt>
                <c:pt idx="3">
                  <c:v>SKU 14</c:v>
                </c:pt>
                <c:pt idx="4">
                  <c:v>SKU 18</c:v>
                </c:pt>
                <c:pt idx="5">
                  <c:v>SKU 12</c:v>
                </c:pt>
                <c:pt idx="6">
                  <c:v>SKU 19</c:v>
                </c:pt>
                <c:pt idx="7">
                  <c:v>SKU 6</c:v>
                </c:pt>
                <c:pt idx="8">
                  <c:v>SKU 1</c:v>
                </c:pt>
                <c:pt idx="9">
                  <c:v>SKU 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0.61</c:v>
                </c:pt>
                <c:pt idx="1">
                  <c:v>0.74</c:v>
                </c:pt>
                <c:pt idx="2">
                  <c:v>0.64</c:v>
                </c:pt>
                <c:pt idx="3">
                  <c:v>0.8</c:v>
                </c:pt>
                <c:pt idx="4">
                  <c:v>0.78</c:v>
                </c:pt>
                <c:pt idx="5">
                  <c:v>0.83</c:v>
                </c:pt>
                <c:pt idx="6">
                  <c:v>0.92</c:v>
                </c:pt>
                <c:pt idx="7">
                  <c:v>1.0900000000000001</c:v>
                </c:pt>
                <c:pt idx="8">
                  <c:v>0.98</c:v>
                </c:pt>
                <c:pt idx="9">
                  <c:v>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50-48BD-97D2-A21EC3CE1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SKU ID</a:t>
                </a:r>
              </a:p>
            </c:rich>
          </c:tx>
          <c:layout>
            <c:manualLayout>
              <c:xMode val="edge"/>
              <c:yMode val="edge"/>
              <c:x val="0.50533129184866921"/>
              <c:y val="0.89224221995173769"/>
            </c:manualLayout>
          </c:layout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 baseline="0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Conv Rate (%)</a:t>
                </a:r>
              </a:p>
            </c:rich>
          </c:tx>
          <c:layout>
            <c:manualLayout>
              <c:xMode val="edge"/>
              <c:yMode val="edge"/>
              <c:x val="2.7530465757233228E-2"/>
              <c:y val="0.31670785558553755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4F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tx2">
            <a:alpha val="0"/>
          </a:scheme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422059372302622"/>
          <c:y val="0.21632815230949376"/>
          <c:w val="0.44202546902518108"/>
          <c:h val="0.10594357526075099"/>
        </c:manualLayout>
      </c:layout>
      <c:overlay val="0"/>
      <c:txPr>
        <a:bodyPr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 RPV 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SKU 1</c:v>
                </c:pt>
                <c:pt idx="1">
                  <c:v>SKU 2</c:v>
                </c:pt>
                <c:pt idx="2">
                  <c:v>SKU 3</c:v>
                </c:pt>
                <c:pt idx="3">
                  <c:v>SKU 4</c:v>
                </c:pt>
                <c:pt idx="4">
                  <c:v>SKU 5</c:v>
                </c:pt>
                <c:pt idx="5">
                  <c:v>SKU 6</c:v>
                </c:pt>
                <c:pt idx="6">
                  <c:v>SKU 7</c:v>
                </c:pt>
                <c:pt idx="7">
                  <c:v>SKU 8</c:v>
                </c:pt>
                <c:pt idx="8">
                  <c:v>SKU 9</c:v>
                </c:pt>
                <c:pt idx="9">
                  <c:v>SKU 10</c:v>
                </c:pt>
                <c:pt idx="10">
                  <c:v>SKU 11</c:v>
                </c:pt>
                <c:pt idx="11">
                  <c:v>SKU 12</c:v>
                </c:pt>
                <c:pt idx="12">
                  <c:v>SKU 13</c:v>
                </c:pt>
                <c:pt idx="13">
                  <c:v>SKU 14</c:v>
                </c:pt>
                <c:pt idx="14">
                  <c:v>SKU 15</c:v>
                </c:pt>
                <c:pt idx="15">
                  <c:v>SKU 16</c:v>
                </c:pt>
                <c:pt idx="16">
                  <c:v>SKU 17</c:v>
                </c:pt>
                <c:pt idx="17">
                  <c:v>SKU 18</c:v>
                </c:pt>
                <c:pt idx="18">
                  <c:v>SKU 19</c:v>
                </c:pt>
                <c:pt idx="19">
                  <c:v>SKU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9.0399999999999991</c:v>
                </c:pt>
                <c:pt idx="1">
                  <c:v>11.77</c:v>
                </c:pt>
                <c:pt idx="2">
                  <c:v>7.56</c:v>
                </c:pt>
                <c:pt idx="3">
                  <c:v>4.3</c:v>
                </c:pt>
                <c:pt idx="4">
                  <c:v>18.079999999999998</c:v>
                </c:pt>
                <c:pt idx="5">
                  <c:v>16.43</c:v>
                </c:pt>
                <c:pt idx="6">
                  <c:v>13</c:v>
                </c:pt>
                <c:pt idx="7">
                  <c:v>6.32</c:v>
                </c:pt>
                <c:pt idx="8">
                  <c:v>5.08</c:v>
                </c:pt>
                <c:pt idx="9">
                  <c:v>2.5099999999999998</c:v>
                </c:pt>
                <c:pt idx="10">
                  <c:v>4.8099999999999996</c:v>
                </c:pt>
                <c:pt idx="11">
                  <c:v>19.41</c:v>
                </c:pt>
                <c:pt idx="12">
                  <c:v>4.6100000000000003</c:v>
                </c:pt>
                <c:pt idx="13">
                  <c:v>7.32</c:v>
                </c:pt>
                <c:pt idx="14">
                  <c:v>4.0199999999999996</c:v>
                </c:pt>
                <c:pt idx="15">
                  <c:v>15.74</c:v>
                </c:pt>
                <c:pt idx="16">
                  <c:v>4.99</c:v>
                </c:pt>
                <c:pt idx="17">
                  <c:v>12.01</c:v>
                </c:pt>
                <c:pt idx="18">
                  <c:v>7.1</c:v>
                </c:pt>
                <c:pt idx="19">
                  <c:v>24.39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FD-4D70-B956-254DC5D783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Blended RPV LY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SKU 1</c:v>
                </c:pt>
                <c:pt idx="1">
                  <c:v>SKU 2</c:v>
                </c:pt>
                <c:pt idx="2">
                  <c:v>SKU 3</c:v>
                </c:pt>
                <c:pt idx="3">
                  <c:v>SKU 4</c:v>
                </c:pt>
                <c:pt idx="4">
                  <c:v>SKU 5</c:v>
                </c:pt>
                <c:pt idx="5">
                  <c:v>SKU 6</c:v>
                </c:pt>
                <c:pt idx="6">
                  <c:v>SKU 7</c:v>
                </c:pt>
                <c:pt idx="7">
                  <c:v>SKU 8</c:v>
                </c:pt>
                <c:pt idx="8">
                  <c:v>SKU 9</c:v>
                </c:pt>
                <c:pt idx="9">
                  <c:v>SKU 10</c:v>
                </c:pt>
                <c:pt idx="10">
                  <c:v>SKU 11</c:v>
                </c:pt>
                <c:pt idx="11">
                  <c:v>SKU 12</c:v>
                </c:pt>
                <c:pt idx="12">
                  <c:v>SKU 13</c:v>
                </c:pt>
                <c:pt idx="13">
                  <c:v>SKU 14</c:v>
                </c:pt>
                <c:pt idx="14">
                  <c:v>SKU 15</c:v>
                </c:pt>
                <c:pt idx="15">
                  <c:v>SKU 16</c:v>
                </c:pt>
                <c:pt idx="16">
                  <c:v>SKU 17</c:v>
                </c:pt>
                <c:pt idx="17">
                  <c:v>SKU 18</c:v>
                </c:pt>
                <c:pt idx="18">
                  <c:v>SKU 19</c:v>
                </c:pt>
                <c:pt idx="19">
                  <c:v>SKU 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8.16</c:v>
                </c:pt>
                <c:pt idx="1">
                  <c:v>11.37</c:v>
                </c:pt>
                <c:pt idx="2">
                  <c:v>7.37</c:v>
                </c:pt>
                <c:pt idx="3">
                  <c:v>4.1900000000000004</c:v>
                </c:pt>
                <c:pt idx="4">
                  <c:v>17.45</c:v>
                </c:pt>
                <c:pt idx="5">
                  <c:v>15.5</c:v>
                </c:pt>
                <c:pt idx="6">
                  <c:v>13.39</c:v>
                </c:pt>
                <c:pt idx="7">
                  <c:v>5.86</c:v>
                </c:pt>
                <c:pt idx="8">
                  <c:v>3.99</c:v>
                </c:pt>
                <c:pt idx="9">
                  <c:v>2.93</c:v>
                </c:pt>
                <c:pt idx="10">
                  <c:v>4.7699999999999996</c:v>
                </c:pt>
                <c:pt idx="11">
                  <c:v>16.78</c:v>
                </c:pt>
                <c:pt idx="12">
                  <c:v>4.46</c:v>
                </c:pt>
                <c:pt idx="13">
                  <c:v>7.2</c:v>
                </c:pt>
                <c:pt idx="14">
                  <c:v>4.09</c:v>
                </c:pt>
                <c:pt idx="15">
                  <c:v>15.25</c:v>
                </c:pt>
                <c:pt idx="16">
                  <c:v>4.6100000000000003</c:v>
                </c:pt>
                <c:pt idx="17">
                  <c:v>12.04</c:v>
                </c:pt>
                <c:pt idx="18">
                  <c:v>6.28</c:v>
                </c:pt>
                <c:pt idx="19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FD-4D70-B956-254DC5D78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rgbClr val="555555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4E4E4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rgbClr val="555555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50" b="0" i="0" u="none" strike="noStrike" kern="1200" baseline="0">
              <a:solidFill>
                <a:srgbClr val="555555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 Dependency %</c:v>
                </c:pt>
              </c:strCache>
            </c:strRef>
          </c:tx>
          <c:spPr>
            <a:solidFill>
              <a:srgbClr val="1B4F9B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SKU 1</c:v>
                </c:pt>
                <c:pt idx="1">
                  <c:v>SKU 2</c:v>
                </c:pt>
                <c:pt idx="2">
                  <c:v>SKU 3</c:v>
                </c:pt>
                <c:pt idx="3">
                  <c:v>SKU 4</c:v>
                </c:pt>
                <c:pt idx="4">
                  <c:v>SKU 5</c:v>
                </c:pt>
                <c:pt idx="5">
                  <c:v>SKU 6</c:v>
                </c:pt>
                <c:pt idx="6">
                  <c:v>SKU 7</c:v>
                </c:pt>
                <c:pt idx="7">
                  <c:v>SKU 8</c:v>
                </c:pt>
                <c:pt idx="8">
                  <c:v>SKU 9</c:v>
                </c:pt>
                <c:pt idx="9">
                  <c:v>SKU 10</c:v>
                </c:pt>
                <c:pt idx="10">
                  <c:v>SKU 11</c:v>
                </c:pt>
                <c:pt idx="11">
                  <c:v>SKU 12</c:v>
                </c:pt>
                <c:pt idx="12">
                  <c:v>SKU 13</c:v>
                </c:pt>
                <c:pt idx="13">
                  <c:v>SKU 14</c:v>
                </c:pt>
                <c:pt idx="14">
                  <c:v>SKU 15</c:v>
                </c:pt>
                <c:pt idx="15">
                  <c:v>SKU 16</c:v>
                </c:pt>
                <c:pt idx="16">
                  <c:v>SKU 17</c:v>
                </c:pt>
                <c:pt idx="17">
                  <c:v>SKU 18</c:v>
                </c:pt>
                <c:pt idx="18">
                  <c:v>SKU 19</c:v>
                </c:pt>
                <c:pt idx="19">
                  <c:v>SKU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62.2</c:v>
                </c:pt>
                <c:pt idx="1">
                  <c:v>65.3</c:v>
                </c:pt>
                <c:pt idx="2">
                  <c:v>66.2</c:v>
                </c:pt>
                <c:pt idx="3">
                  <c:v>61.9</c:v>
                </c:pt>
                <c:pt idx="4">
                  <c:v>66.7</c:v>
                </c:pt>
                <c:pt idx="5">
                  <c:v>59.9</c:v>
                </c:pt>
                <c:pt idx="6">
                  <c:v>62.7</c:v>
                </c:pt>
                <c:pt idx="7">
                  <c:v>62.1</c:v>
                </c:pt>
                <c:pt idx="8">
                  <c:v>67.3</c:v>
                </c:pt>
                <c:pt idx="9">
                  <c:v>64.099999999999994</c:v>
                </c:pt>
                <c:pt idx="10">
                  <c:v>65.099999999999994</c:v>
                </c:pt>
                <c:pt idx="11">
                  <c:v>59.7</c:v>
                </c:pt>
                <c:pt idx="12">
                  <c:v>69</c:v>
                </c:pt>
                <c:pt idx="13">
                  <c:v>60.5</c:v>
                </c:pt>
                <c:pt idx="14">
                  <c:v>62</c:v>
                </c:pt>
                <c:pt idx="15">
                  <c:v>60.3</c:v>
                </c:pt>
                <c:pt idx="16">
                  <c:v>68.599999999999994</c:v>
                </c:pt>
                <c:pt idx="17">
                  <c:v>62</c:v>
                </c:pt>
                <c:pt idx="18">
                  <c:v>64.599999999999994</c:v>
                </c:pt>
                <c:pt idx="19">
                  <c:v>69.8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BB-4EE8-BD15-73703FDB5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55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ln w="31750" cap="flat">
              <a:solidFill>
                <a:srgbClr val="F9630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6302"/>
              </a:solidFill>
              <a:ln w="9525" cap="flat">
                <a:solidFill>
                  <a:srgbClr val="F9630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3.45</c:v>
                </c:pt>
                <c:pt idx="1">
                  <c:v>3.35</c:v>
                </c:pt>
                <c:pt idx="2">
                  <c:v>3.72</c:v>
                </c:pt>
                <c:pt idx="3">
                  <c:v>3.65</c:v>
                </c:pt>
                <c:pt idx="4">
                  <c:v>3.72</c:v>
                </c:pt>
                <c:pt idx="5">
                  <c:v>3.51</c:v>
                </c:pt>
                <c:pt idx="6">
                  <c:v>3.38</c:v>
                </c:pt>
                <c:pt idx="7">
                  <c:v>3.27</c:v>
                </c:pt>
                <c:pt idx="8">
                  <c:v>3.33</c:v>
                </c:pt>
                <c:pt idx="9">
                  <c:v>3.61</c:v>
                </c:pt>
                <c:pt idx="10">
                  <c:v>3.75</c:v>
                </c:pt>
                <c:pt idx="11">
                  <c:v>3.64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172-4A49-AA5C-40D51D782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1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0999999999999996"/>
          <c:min val="2.8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1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 b="1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Conv Rate (%)</c:v>
                </c:pt>
              </c:strCache>
            </c:strRef>
          </c:tx>
          <c:spPr>
            <a:ln w="31750" cap="flat">
              <a:solidFill>
                <a:srgbClr val="1B4F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9B"/>
              </a:solidFill>
              <a:ln w="9525" cap="flat">
                <a:solidFill>
                  <a:srgbClr val="1B4F9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1.19</c:v>
                </c:pt>
                <c:pt idx="1">
                  <c:v>0.91</c:v>
                </c:pt>
                <c:pt idx="2">
                  <c:v>0.91</c:v>
                </c:pt>
                <c:pt idx="3">
                  <c:v>0.88</c:v>
                </c:pt>
                <c:pt idx="4">
                  <c:v>1.18</c:v>
                </c:pt>
                <c:pt idx="5">
                  <c:v>0.88</c:v>
                </c:pt>
                <c:pt idx="6">
                  <c:v>0.91</c:v>
                </c:pt>
                <c:pt idx="7">
                  <c:v>0.96</c:v>
                </c:pt>
                <c:pt idx="8">
                  <c:v>1.34</c:v>
                </c:pt>
                <c:pt idx="9">
                  <c:v>1.03</c:v>
                </c:pt>
                <c:pt idx="10">
                  <c:v>1.02</c:v>
                </c:pt>
                <c:pt idx="11">
                  <c:v>1.67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74-4163-AA02-78329F46E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1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1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 b="1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Growth %</c:v>
                </c:pt>
              </c:strCache>
            </c:strRef>
          </c:tx>
          <c:spPr>
            <a:solidFill>
              <a:srgbClr val="F9630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9</c:v>
                </c:pt>
                <c:pt idx="1">
                  <c:v>SKU 12</c:v>
                </c:pt>
                <c:pt idx="2">
                  <c:v>SKU 19</c:v>
                </c:pt>
                <c:pt idx="3">
                  <c:v>SKU 1</c:v>
                </c:pt>
                <c:pt idx="4">
                  <c:v>SKU 8</c:v>
                </c:pt>
                <c:pt idx="5">
                  <c:v>SKU 17</c:v>
                </c:pt>
                <c:pt idx="6">
                  <c:v>SKU 13</c:v>
                </c:pt>
                <c:pt idx="7">
                  <c:v>SKU 16</c:v>
                </c:pt>
                <c:pt idx="8">
                  <c:v>SKU 5</c:v>
                </c:pt>
                <c:pt idx="9">
                  <c:v>SKU 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26.2</c:v>
                </c:pt>
                <c:pt idx="1">
                  <c:v>24.7</c:v>
                </c:pt>
                <c:pt idx="2">
                  <c:v>20.100000000000001</c:v>
                </c:pt>
                <c:pt idx="3">
                  <c:v>18.5</c:v>
                </c:pt>
                <c:pt idx="4">
                  <c:v>14.1</c:v>
                </c:pt>
                <c:pt idx="5">
                  <c:v>12.1</c:v>
                </c:pt>
                <c:pt idx="6">
                  <c:v>8.3000000000000007</c:v>
                </c:pt>
                <c:pt idx="7">
                  <c:v>8.1</c:v>
                </c:pt>
                <c:pt idx="8">
                  <c:v>7.4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4-4891-9BD9-BE3F433C9F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 Growth %</c:v>
                </c:pt>
              </c:strCache>
            </c:strRef>
          </c:tx>
          <c:spPr>
            <a:solidFill>
              <a:srgbClr val="1B4F9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9</c:v>
                </c:pt>
                <c:pt idx="1">
                  <c:v>SKU 12</c:v>
                </c:pt>
                <c:pt idx="2">
                  <c:v>SKU 19</c:v>
                </c:pt>
                <c:pt idx="3">
                  <c:v>SKU 1</c:v>
                </c:pt>
                <c:pt idx="4">
                  <c:v>SKU 8</c:v>
                </c:pt>
                <c:pt idx="5">
                  <c:v>SKU 17</c:v>
                </c:pt>
                <c:pt idx="6">
                  <c:v>SKU 13</c:v>
                </c:pt>
                <c:pt idx="7">
                  <c:v>SKU 16</c:v>
                </c:pt>
                <c:pt idx="8">
                  <c:v>SKU 5</c:v>
                </c:pt>
                <c:pt idx="9">
                  <c:v>SKU 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</c:v>
                </c:pt>
                <c:pt idx="1">
                  <c:v>-1.1000000000000001</c:v>
                </c:pt>
                <c:pt idx="2">
                  <c:v>4.2</c:v>
                </c:pt>
                <c:pt idx="3">
                  <c:v>1.5</c:v>
                </c:pt>
                <c:pt idx="4">
                  <c:v>5.7</c:v>
                </c:pt>
                <c:pt idx="5">
                  <c:v>3.6</c:v>
                </c:pt>
                <c:pt idx="6">
                  <c:v>18.100000000000001</c:v>
                </c:pt>
                <c:pt idx="7">
                  <c:v>5.3</c:v>
                </c:pt>
                <c:pt idx="8">
                  <c:v>2.1</c:v>
                </c:pt>
                <c:pt idx="9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94-4891-9BD9-BE3F433C9F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Visits Growth %</c:v>
                </c:pt>
              </c:strCache>
            </c:strRef>
          </c:tx>
          <c:spPr>
            <a:solidFill>
              <a:srgbClr val="A8C4E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SKU 9</c:v>
                </c:pt>
                <c:pt idx="1">
                  <c:v>SKU 12</c:v>
                </c:pt>
                <c:pt idx="2">
                  <c:v>SKU 19</c:v>
                </c:pt>
                <c:pt idx="3">
                  <c:v>SKU 1</c:v>
                </c:pt>
                <c:pt idx="4">
                  <c:v>SKU 8</c:v>
                </c:pt>
                <c:pt idx="5">
                  <c:v>SKU 17</c:v>
                </c:pt>
                <c:pt idx="6">
                  <c:v>SKU 13</c:v>
                </c:pt>
                <c:pt idx="7">
                  <c:v>SKU 16</c:v>
                </c:pt>
                <c:pt idx="8">
                  <c:v>SKU 5</c:v>
                </c:pt>
                <c:pt idx="9">
                  <c:v>SKU 6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-0.9</c:v>
                </c:pt>
                <c:pt idx="1">
                  <c:v>2.9</c:v>
                </c:pt>
                <c:pt idx="2">
                  <c:v>2.7</c:v>
                </c:pt>
                <c:pt idx="3">
                  <c:v>3.4</c:v>
                </c:pt>
                <c:pt idx="4">
                  <c:v>0.2</c:v>
                </c:pt>
                <c:pt idx="5">
                  <c:v>3.7</c:v>
                </c:pt>
                <c:pt idx="6">
                  <c:v>-0.7</c:v>
                </c:pt>
                <c:pt idx="7">
                  <c:v>0.9</c:v>
                </c:pt>
                <c:pt idx="8">
                  <c:v>1.4</c:v>
                </c:pt>
                <c:pt idx="9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94-4891-9BD9-BE3F433C9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/>
    <a:lstStyle/>
    <a:p>
      <a:pPr>
        <a:defRPr b="1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95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83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14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98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8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4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58"/>
            <a:ext cx="4114800" cy="514350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109728" cy="514350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7012" y="123520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kern="0" spc="400" dirty="0">
                <a:solidFill>
                  <a:srgbClr val="FFFFFF"/>
                </a:solidFill>
              </a:rPr>
              <a:t>eCommerce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490472"/>
            <a:ext cx="3721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Performance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Review – Case Study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26078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Weiser × Home Depot Canada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ECFAE"/>
                </a:solidFill>
              </a:rPr>
              <a:t>Presented by: Yash Doshi |  2026</a:t>
            </a:r>
            <a:endParaRPr lang="en-US" sz="1000" b="1" dirty="0"/>
          </a:p>
        </p:txBody>
      </p:sp>
      <p:sp>
        <p:nvSpPr>
          <p:cNvPr id="8" name="Shape 6"/>
          <p:cNvSpPr/>
          <p:nvPr/>
        </p:nvSpPr>
        <p:spPr>
          <a:xfrm>
            <a:off x="365760" y="3337560"/>
            <a:ext cx="3383280" cy="77724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655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Weiser — #1 door hardware brand on HomeDepot.ca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E4F5"/>
                </a:solidFill>
              </a:rPr>
              <a:t>166 SKUs  ·  vs Schlage 144  ·  Defiant 69  ·  Yale 26</a:t>
            </a:r>
            <a:endParaRPr lang="en-US" sz="950" b="1" dirty="0"/>
          </a:p>
        </p:txBody>
      </p:sp>
      <p:sp>
        <p:nvSpPr>
          <p:cNvPr id="11" name="Text 9"/>
          <p:cNvSpPr/>
          <p:nvPr/>
        </p:nvSpPr>
        <p:spPr>
          <a:xfrm>
            <a:off x="498348" y="4504182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/>
          </a:p>
        </p:txBody>
      </p:sp>
      <p:sp>
        <p:nvSpPr>
          <p:cNvPr id="12" name="Text 10"/>
          <p:cNvSpPr/>
          <p:nvPr/>
        </p:nvSpPr>
        <p:spPr>
          <a:xfrm>
            <a:off x="4389120" y="411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this review matters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70832" y="960120"/>
            <a:ext cx="443484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272" y="1069848"/>
            <a:ext cx="384048" cy="38404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50000"/>
                  </a:schemeClr>
                </a:solidFill>
              </a:rPr>
              <a:t>Online drives in-store</a:t>
            </a:r>
            <a:endParaRPr lang="en-US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b="1" dirty="0">
                <a:solidFill>
                  <a:schemeClr val="accent3">
                    <a:lumMod val="50000"/>
                  </a:schemeClr>
                </a:solidFill>
              </a:rPr>
              <a:t>Over 60–70% of Weiser revenue closes in-store</a:t>
            </a: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, but the online Product Page is where the decision is made. The </a:t>
            </a:r>
            <a:r>
              <a:rPr lang="en-US" sz="950" b="1" dirty="0">
                <a:solidFill>
                  <a:schemeClr val="accent3">
                    <a:lumMod val="50000"/>
                  </a:schemeClr>
                </a:solidFill>
              </a:rPr>
              <a:t>PIP is the most critical real estate in the purchase funnel.</a:t>
            </a:r>
          </a:p>
        </p:txBody>
      </p:sp>
      <p:sp>
        <p:nvSpPr>
          <p:cNvPr id="18" name="Shape 16"/>
          <p:cNvSpPr/>
          <p:nvPr/>
        </p:nvSpPr>
        <p:spPr>
          <a:xfrm>
            <a:off x="4364482" y="2194560"/>
            <a:ext cx="443484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2304288"/>
            <a:ext cx="384048" cy="384048"/>
          </a:xfrm>
          <a:prstGeom prst="ellipse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50000"/>
                  </a:schemeClr>
                </a:solidFill>
              </a:rPr>
              <a:t>Conversion is below potential</a:t>
            </a:r>
            <a:endParaRPr lang="en-US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25786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High-traffic SKUs — some attracting over </a:t>
            </a:r>
            <a:r>
              <a:rPr lang="en-US" sz="950" b="1" dirty="0">
                <a:solidFill>
                  <a:schemeClr val="accent3">
                    <a:lumMod val="50000"/>
                  </a:schemeClr>
                </a:solidFill>
              </a:rPr>
              <a:t>115,000 annual visits </a:t>
            </a: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— are converting at under </a:t>
            </a:r>
            <a:r>
              <a:rPr lang="en-US" sz="950" b="1" dirty="0">
                <a:solidFill>
                  <a:schemeClr val="accent3">
                    <a:lumMod val="50000"/>
                  </a:schemeClr>
                </a:solidFill>
              </a:rPr>
              <a:t>0.65%</a:t>
            </a: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. Content gaps are measurably costing revenue.</a:t>
            </a:r>
          </a:p>
        </p:txBody>
      </p:sp>
      <p:sp>
        <p:nvSpPr>
          <p:cNvPr id="23" name="Shape 21"/>
          <p:cNvSpPr/>
          <p:nvPr/>
        </p:nvSpPr>
        <p:spPr>
          <a:xfrm>
            <a:off x="4370832" y="3429000"/>
            <a:ext cx="4434840" cy="1115568"/>
          </a:xfrm>
          <a:prstGeom prst="rect">
            <a:avLst/>
          </a:prstGeom>
          <a:solidFill>
            <a:srgbClr val="FFFFFF">
              <a:alpha val="9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62272" y="3538728"/>
            <a:ext cx="384048" cy="384048"/>
          </a:xfrm>
          <a:prstGeom prst="ellipse">
            <a:avLst/>
          </a:prstGeom>
          <a:solidFill>
            <a:srgbClr val="FB8C3A"/>
          </a:solidFill>
          <a:ln w="12700">
            <a:solidFill>
              <a:srgbClr val="FB8C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>
                    <a:lumMod val="50000"/>
                  </a:schemeClr>
                </a:solidFill>
              </a:rPr>
              <a:t>Ratings signal trust gaps</a:t>
            </a:r>
          </a:p>
        </p:txBody>
      </p:sp>
      <p:sp>
        <p:nvSpPr>
          <p:cNvPr id="27" name="Text 25"/>
          <p:cNvSpPr/>
          <p:nvPr/>
        </p:nvSpPr>
        <p:spPr>
          <a:xfrm>
            <a:off x="4937760" y="3813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Several SKUs sit </a:t>
            </a:r>
            <a:r>
              <a:rPr lang="en-US" sz="950" b="1" dirty="0">
                <a:solidFill>
                  <a:schemeClr val="accent3">
                    <a:lumMod val="50000"/>
                  </a:schemeClr>
                </a:solidFill>
              </a:rPr>
              <a:t>below 2.5 stars</a:t>
            </a:r>
            <a:r>
              <a:rPr lang="en-US" sz="950" dirty="0">
                <a:solidFill>
                  <a:schemeClr val="accent3">
                    <a:lumMod val="50000"/>
                  </a:schemeClr>
                </a:solidFill>
              </a:rPr>
              <a:t>. Lower ratings directly correlate with weaker conversion and blended revenue per visit across the portfolio.</a:t>
            </a:r>
          </a:p>
        </p:txBody>
      </p:sp>
      <p:sp>
        <p:nvSpPr>
          <p:cNvPr id="28" name="Shape 26"/>
          <p:cNvSpPr/>
          <p:nvPr/>
        </p:nvSpPr>
        <p:spPr>
          <a:xfrm>
            <a:off x="4194810" y="4617720"/>
            <a:ext cx="4949190" cy="5257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4626864"/>
            <a:ext cx="46634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FFFFF"/>
                </a:solidFill>
              </a:rPr>
              <a:t>| Welcome Home (Cat 1) | Elements (Cat 2) | Collections + Smart Locks (Cat 3) |</a:t>
            </a:r>
            <a:endParaRPr lang="en-US" sz="9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914251FD-6E2E-4CE0-CA14-5F4490A3ED56}"/>
              </a:ext>
            </a:extLst>
          </p:cNvPr>
          <p:cNvSpPr/>
          <p:nvPr/>
        </p:nvSpPr>
        <p:spPr>
          <a:xfrm>
            <a:off x="338328" y="4306824"/>
            <a:ext cx="3490722" cy="32004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506A40-D487-ADAD-44A0-FEC7A74C9FEF}"/>
              </a:ext>
            </a:extLst>
          </p:cNvPr>
          <p:cNvSpPr txBox="1"/>
          <p:nvPr/>
        </p:nvSpPr>
        <p:spPr>
          <a:xfrm>
            <a:off x="280904" y="4358048"/>
            <a:ext cx="36022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>
                <a:solidFill>
                  <a:schemeClr val="bg1"/>
                </a:solidFill>
              </a:rPr>
              <a:t>Lifetime Warranty  ·  </a:t>
            </a:r>
            <a:r>
              <a:rPr lang="en-US" sz="900" b="1" i="1" dirty="0" err="1">
                <a:solidFill>
                  <a:schemeClr val="bg1"/>
                </a:solidFill>
              </a:rPr>
              <a:t>SmartKey</a:t>
            </a:r>
            <a:r>
              <a:rPr lang="en-US" sz="900" b="1" i="1" dirty="0">
                <a:solidFill>
                  <a:schemeClr val="bg1"/>
                </a:solidFill>
              </a:rPr>
              <a:t> Technology  ·  Canadian Weather Tested</a:t>
            </a:r>
            <a:endParaRPr lang="en-US" sz="900" b="1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D1D34F-BEE0-BE87-45A0-8E442760D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42" y="46300"/>
            <a:ext cx="1228761" cy="12162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A77C6A8-5BE0-28F6-3FD6-65729284E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912" y="44037"/>
            <a:ext cx="1398607" cy="12448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DB21B543-7AE6-CCCA-CE21-41635F827807}"/>
              </a:ext>
            </a:extLst>
          </p:cNvPr>
          <p:cNvSpPr/>
          <p:nvPr/>
        </p:nvSpPr>
        <p:spPr>
          <a:xfrm>
            <a:off x="1429657" y="666453"/>
            <a:ext cx="257106" cy="15650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45CD123-32F4-8B78-BBCD-90B79F7D3887}"/>
              </a:ext>
            </a:extLst>
          </p:cNvPr>
          <p:cNvSpPr/>
          <p:nvPr/>
        </p:nvSpPr>
        <p:spPr>
          <a:xfrm rot="10800000">
            <a:off x="1819850" y="666453"/>
            <a:ext cx="257106" cy="15650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 Overview — Where are we today?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>
                <a:solidFill>
                  <a:schemeClr val="bg2">
                    <a:lumMod val="25000"/>
                  </a:schemeClr>
                </a:solidFill>
              </a:rPr>
              <a:t>Online sales TY vs LY | Revenue = Orders × AOV | Blended RPV = (Online + Attributed In-Store Revenue) ÷ Product Visits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| 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14400"/>
            <a:ext cx="128016" cy="96012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87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</a:rPr>
              <a:t>Total online sales TY</a:t>
            </a:r>
            <a:endParaRPr lang="en-US" sz="900" b="1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$5.46M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6184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</a:rPr>
              <a:t>▲ 10.3% vs 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91440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31720" y="914400"/>
            <a:ext cx="128016" cy="96012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987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</a:rPr>
              <a:t>Total orders TY</a:t>
            </a:r>
            <a:endParaRPr lang="en-US" sz="900" b="1" dirty="0"/>
          </a:p>
        </p:txBody>
      </p:sp>
      <p:sp>
        <p:nvSpPr>
          <p:cNvPr id="16" name="Text 14"/>
          <p:cNvSpPr/>
          <p:nvPr/>
        </p:nvSpPr>
        <p:spPr>
          <a:xfrm>
            <a:off x="2532888" y="11887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15,994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32888" y="16184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</a:rPr>
              <a:t>▲ 3.4% vs 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07408" y="91440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07408" y="914400"/>
            <a:ext cx="128016" cy="96012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98755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</a:rPr>
              <a:t>Avg conversion rate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4608576" y="11887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0.85%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83096" y="914400"/>
            <a:ext cx="20574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83096" y="914400"/>
            <a:ext cx="128016" cy="96012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98755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A8A"/>
                </a:solidFill>
              </a:rPr>
              <a:t>Avg blended rev/visit</a:t>
            </a:r>
            <a:endParaRPr lang="en-US" sz="900" b="1" dirty="0"/>
          </a:p>
        </p:txBody>
      </p:sp>
      <p:sp>
        <p:nvSpPr>
          <p:cNvPr id="26" name="Text 24"/>
          <p:cNvSpPr/>
          <p:nvPr/>
        </p:nvSpPr>
        <p:spPr>
          <a:xfrm>
            <a:off x="6684264" y="118872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$9.34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84264" y="161848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</a:rPr>
              <a:t>▲ from $8.79 LY</a:t>
            </a:r>
            <a:endParaRPr lang="en-US" sz="90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3862605449"/>
              </p:ext>
            </p:extLst>
          </p:nvPr>
        </p:nvGraphicFramePr>
        <p:xfrm>
          <a:off x="256032" y="1993392"/>
          <a:ext cx="5394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942775"/>
              </p:ext>
            </p:extLst>
          </p:nvPr>
        </p:nvGraphicFramePr>
        <p:xfrm>
          <a:off x="5577332" y="1988820"/>
          <a:ext cx="3503168" cy="2270760"/>
        </p:xfrm>
        <a:graphic>
          <a:graphicData uri="http://schemas.openxmlformats.org/drawingml/2006/table">
            <a:tbl>
              <a:tblPr/>
              <a:tblGrid>
                <a:gridCol w="53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8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Line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Sales 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Conv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Blended RPV</a:t>
                      </a:r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3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Collections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$724,774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+24.7%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0.83%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$19.41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16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Collections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$612,579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+8.1%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0.74%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$15.74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Welcome Home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$454,616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+7.0%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B4F9B"/>
                          </a:solidFill>
                        </a:rPr>
                        <a:t>1.09%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$16.43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Collections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$389,975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+6.1%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0.99%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96302"/>
                          </a:solidFill>
                        </a:rPr>
                        <a:t>$24.39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Welcome Home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$380,452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+6.6%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0.92%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$13.00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256032" y="4626864"/>
            <a:ext cx="8631936" cy="228600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56032" y="4626864"/>
            <a:ext cx="109728" cy="22860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20624" y="463600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96302"/>
                </a:solidFill>
              </a:rPr>
              <a:t>KEY MESSAGE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1404112" y="4632198"/>
            <a:ext cx="83759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A1A1A"/>
                </a:solidFill>
              </a:rPr>
              <a:t>"Revenue is concentrated across a few key SKUs — but performance varies sharply in conversion and monetization efficiency."</a:t>
            </a:r>
            <a:endParaRPr lang="en-US" sz="105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5598"/>
            <a:ext cx="9144000" cy="64008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Funnel Analysis — Where are we losing customers?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2160" y="6218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i="1" dirty="0">
                <a:solidFill>
                  <a:schemeClr val="bg2">
                    <a:lumMod val="25000"/>
                  </a:schemeClr>
                </a:solidFill>
              </a:rPr>
              <a:t>SKUs sorted by online visits TY — bars show traffic volume, line shows conversion efficiency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885182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4850528"/>
            <a:ext cx="3154680" cy="33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F96302"/>
                </a:solidFill>
              </a:rPr>
              <a:t>Weiser × Home Depot Canada  | Yash Doshi |  2026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223591524"/>
              </p:ext>
            </p:extLst>
          </p:nvPr>
        </p:nvGraphicFramePr>
        <p:xfrm>
          <a:off x="71882" y="1028181"/>
          <a:ext cx="4608068" cy="1942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929817" y="9639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/>
              <a:t>Chart 1: Online Visits TY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205620"/>
              </p:ext>
            </p:extLst>
          </p:nvPr>
        </p:nvGraphicFramePr>
        <p:xfrm>
          <a:off x="565712" y="2909907"/>
          <a:ext cx="3303978" cy="1833305"/>
        </p:xfrm>
        <a:graphic>
          <a:graphicData uri="http://schemas.openxmlformats.org/drawingml/2006/table">
            <a:tbl>
              <a:tblPr/>
              <a:tblGrid>
                <a:gridCol w="495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9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Visits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Conv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Diagnosis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117,298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713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24B4A"/>
                          </a:solidFill>
                        </a:rPr>
                        <a:t>0.61%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24B4A"/>
                          </a:solidFill>
                        </a:rPr>
                        <a:t>High traffic, low conv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16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118,087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871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96302"/>
                          </a:solidFill>
                        </a:rPr>
                        <a:t>0.74%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96302"/>
                          </a:solidFill>
                        </a:rPr>
                        <a:t>High traffic, mid conv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9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17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114,611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728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E24B4A"/>
                          </a:solidFill>
                        </a:rPr>
                        <a:t>0.64%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24B4A"/>
                          </a:solidFill>
                        </a:rPr>
                        <a:t>High traffic, low conv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0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91,026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993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1.09%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D9E75"/>
                          </a:solidFill>
                        </a:rPr>
                        <a:t>Balanced winner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SKU 20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76,697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758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D9E75"/>
                          </a:solidFill>
                        </a:rPr>
                        <a:t>0.99%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D9E75"/>
                          </a:solidFill>
                        </a:rPr>
                        <a:t>Balanced winner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5091430" y="3529550"/>
            <a:ext cx="3920169" cy="691602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091431" y="3529549"/>
            <a:ext cx="148398" cy="676003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89293" y="3664624"/>
            <a:ext cx="3657857" cy="523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00" b="1" kern="0" spc="150" dirty="0">
                <a:solidFill>
                  <a:srgbClr val="F96302"/>
                </a:solidFill>
              </a:rPr>
              <a:t>KEY MESSAGE:</a:t>
            </a:r>
            <a:r>
              <a:rPr lang="en-US" sz="900" b="1" i="1" dirty="0">
                <a:solidFill>
                  <a:srgbClr val="1A1A1A"/>
                </a:solidFill>
              </a:rPr>
              <a:t>"SKU 15 and SKU 17 together attract 230K+ visits/year yet convert below 0.65%. That is a digital shelf problem, not a demand problem.</a:t>
            </a:r>
            <a:r>
              <a:rPr lang="en-US" sz="900" dirty="0"/>
              <a:t> </a:t>
            </a:r>
            <a:r>
              <a:rPr lang="en-US" sz="900" b="1" i="1" dirty="0">
                <a:solidFill>
                  <a:srgbClr val="1A1A1A"/>
                </a:solidFill>
              </a:rPr>
              <a:t>Visits × Conversion Rate = Orders. Fixing conversion on these two SKUs to portfolio average (0.85%) would generate ~500 incremental orders per SKU annually"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385560" y="456033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62891" y="4980989"/>
            <a:ext cx="566470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38912" y="4901184"/>
            <a:ext cx="532180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graphicFrame>
        <p:nvGraphicFramePr>
          <p:cNvPr id="23" name="Chart 1"/>
          <p:cNvGraphicFramePr/>
          <p:nvPr>
            <p:extLst>
              <p:ext uri="{D42A27DB-BD31-4B8C-83A1-F6EECF244321}">
                <p14:modId xmlns:p14="http://schemas.microsoft.com/office/powerpoint/2010/main" val="4161895748"/>
              </p:ext>
            </p:extLst>
          </p:nvPr>
        </p:nvGraphicFramePr>
        <p:xfrm>
          <a:off x="4861574" y="701433"/>
          <a:ext cx="4085578" cy="277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Shape 10">
            <a:extLst>
              <a:ext uri="{FF2B5EF4-FFF2-40B4-BE49-F238E27FC236}">
                <a16:creationId xmlns:a16="http://schemas.microsoft.com/office/drawing/2014/main" id="{AD9E7447-4AAA-CBCE-9DD9-70A904108580}"/>
              </a:ext>
            </a:extLst>
          </p:cNvPr>
          <p:cNvSpPr/>
          <p:nvPr/>
        </p:nvSpPr>
        <p:spPr>
          <a:xfrm>
            <a:off x="5091430" y="4205554"/>
            <a:ext cx="3920169" cy="488950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E4E49878-FB3C-31C1-FE93-A7927B99E983}"/>
              </a:ext>
            </a:extLst>
          </p:cNvPr>
          <p:cNvSpPr/>
          <p:nvPr/>
        </p:nvSpPr>
        <p:spPr>
          <a:xfrm>
            <a:off x="5091431" y="4205554"/>
            <a:ext cx="148398" cy="48895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D4B75045-AEB0-5691-E118-A23172576462}"/>
              </a:ext>
            </a:extLst>
          </p:cNvPr>
          <p:cNvSpPr/>
          <p:nvPr/>
        </p:nvSpPr>
        <p:spPr>
          <a:xfrm>
            <a:off x="5274311" y="4205555"/>
            <a:ext cx="3672840" cy="37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900" b="1" kern="0" spc="150" dirty="0">
                <a:solidFill>
                  <a:srgbClr val="F96302"/>
                </a:solidFill>
              </a:rPr>
              <a:t>TOTAL VISITS: </a:t>
            </a:r>
            <a:r>
              <a:rPr lang="en-US" sz="900" b="1" i="1" dirty="0">
                <a:solidFill>
                  <a:srgbClr val="1A1A1A"/>
                </a:solidFill>
              </a:rPr>
              <a:t>Over 1.97 million product visits across the Weiser portfolio annually — every 0.1% conversion gain = ~2,000 incremental orders</a:t>
            </a:r>
            <a:endParaRPr lang="en-US" sz="900" b="1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FC7DDCC-8181-6E10-B733-42DE76FC9F9E}"/>
              </a:ext>
            </a:extLst>
          </p:cNvPr>
          <p:cNvSpPr/>
          <p:nvPr/>
        </p:nvSpPr>
        <p:spPr>
          <a:xfrm>
            <a:off x="4861574" y="905833"/>
            <a:ext cx="17982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/>
              <a:t>Chart 2: </a:t>
            </a:r>
            <a:r>
              <a:rPr lang="en-IN" sz="1000" b="1" dirty="0"/>
              <a:t>Conversion Rate TY (%)</a:t>
            </a:r>
            <a:endParaRPr 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BAE1B9-D04C-EBA2-52D0-BD5AF6791809}"/>
              </a:ext>
            </a:extLst>
          </p:cNvPr>
          <p:cNvSpPr txBox="1"/>
          <p:nvPr/>
        </p:nvSpPr>
        <p:spPr>
          <a:xfrm>
            <a:off x="1289746" y="4857878"/>
            <a:ext cx="15668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Note: </a:t>
            </a:r>
            <a:r>
              <a:rPr lang="en-IN" sz="1000" b="1" dirty="0"/>
              <a:t>Top 5 SKUs shown</a:t>
            </a:r>
            <a:endParaRPr lang="en-US" sz="1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Monetization — Are we making money efficiently per visit?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bg2">
                    <a:lumMod val="25000"/>
                  </a:schemeClr>
                </a:solidFill>
              </a:rPr>
              <a:t>Blended revenue per visit TY vs LY  ·  Store dependency ratio  ·  AOV online vs in-store comparison</a:t>
            </a:r>
            <a:endParaRPr lang="en-US" sz="105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Yash Doshi |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1064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Blended Revenue per Visit — TY vs LY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265022854"/>
              </p:ext>
            </p:extLst>
          </p:nvPr>
        </p:nvGraphicFramePr>
        <p:xfrm>
          <a:off x="310896" y="1289304"/>
          <a:ext cx="3445614" cy="3406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3738222" y="108997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Store Dependency Ratio (%)</a:t>
            </a:r>
            <a:endParaRPr lang="en-US" sz="9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3756510" y="1262065"/>
          <a:ext cx="1828156" cy="3140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6196155" y="1089972"/>
            <a:ext cx="276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AOV Online vs Store — sorted by online premium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641348" y="3844317"/>
            <a:ext cx="502920" cy="164592"/>
          </a:xfrm>
          <a:prstGeom prst="rect">
            <a:avLst/>
          </a:prstGeom>
          <a:solidFill>
            <a:srgbClr val="FDE8D5"/>
          </a:solidFill>
          <a:ln w="6350">
            <a:solidFill>
              <a:srgbClr val="F9630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1348" y="3844317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6302"/>
                </a:solidFill>
              </a:rPr>
              <a:t>&gt;$100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7162556" y="3844317"/>
            <a:ext cx="502920" cy="164592"/>
          </a:xfrm>
          <a:prstGeom prst="rect">
            <a:avLst/>
          </a:prstGeom>
          <a:solidFill>
            <a:srgbClr val="D6E4F5"/>
          </a:solidFill>
          <a:ln w="6350">
            <a:solidFill>
              <a:srgbClr val="1B4F9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62556" y="3844317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4F9B"/>
                </a:solidFill>
              </a:rPr>
              <a:t>$50–100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7683764" y="3844317"/>
            <a:ext cx="621792" cy="164592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83764" y="3844317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55555"/>
                </a:solidFill>
              </a:rPr>
              <a:t>&lt; $50 premium</a:t>
            </a:r>
            <a:endParaRPr lang="en-US" sz="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442517"/>
              </p:ext>
            </p:extLst>
          </p:nvPr>
        </p:nvGraphicFramePr>
        <p:xfrm>
          <a:off x="5957529" y="1404571"/>
          <a:ext cx="3006681" cy="2375506"/>
        </p:xfrm>
        <a:graphic>
          <a:graphicData uri="http://schemas.openxmlformats.org/drawingml/2006/table">
            <a:tbl>
              <a:tblPr/>
              <a:tblGrid>
                <a:gridCol w="69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Online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12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$899.94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$765.67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F96302"/>
                          </a:solidFill>
                        </a:rPr>
                        <a:t>+$134.27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2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16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$704.14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$627.00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B4F9B"/>
                          </a:solidFill>
                        </a:rPr>
                        <a:t>+$77.14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$545.15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$496.50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+$48.65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2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$395.88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$354.00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+$41.88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7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$458.32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$419.00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+$39.32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1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$312.64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$274.00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+$38.64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5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$455.13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$417.33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+$37.80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5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20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$507.86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$475.00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+$32.86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7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SKU 18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$496.19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$475.00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555555"/>
                          </a:solidFill>
                        </a:rPr>
                        <a:t>+$21.19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5919894" y="4103172"/>
            <a:ext cx="3173306" cy="310896"/>
          </a:xfrm>
          <a:prstGeom prst="rect">
            <a:avLst/>
          </a:prstGeom>
          <a:solidFill>
            <a:srgbClr val="D6E4F5"/>
          </a:solidFill>
          <a:ln w="6350">
            <a:solidFill>
              <a:srgbClr val="1B4F9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19894" y="4103172"/>
            <a:ext cx="91440" cy="310896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047909" y="4103172"/>
            <a:ext cx="29450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b="1" i="1" dirty="0">
                <a:solidFill>
                  <a:srgbClr val="1B4F9B"/>
                </a:solidFill>
              </a:rPr>
              <a:t>Online buyers spend more per order — SKU 12 online AOV is $134 higher than in-store. Better PIPs attract more decided, higher-value customers.</a:t>
            </a:r>
            <a:endParaRPr lang="en-US" sz="700" b="1" dirty="0"/>
          </a:p>
        </p:txBody>
      </p:sp>
      <p:sp>
        <p:nvSpPr>
          <p:cNvPr id="23" name="Shape 18"/>
          <p:cNvSpPr/>
          <p:nvPr/>
        </p:nvSpPr>
        <p:spPr>
          <a:xfrm>
            <a:off x="0" y="4626863"/>
            <a:ext cx="9144000" cy="310895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0" y="4626862"/>
            <a:ext cx="109728" cy="335843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64592" y="4781553"/>
            <a:ext cx="4813808" cy="8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150" dirty="0">
                <a:solidFill>
                  <a:srgbClr val="F96302"/>
                </a:solidFill>
              </a:rPr>
              <a:t>KEY MESSAGE: </a:t>
            </a:r>
            <a:r>
              <a:rPr lang="en-US" sz="900" b="1" i="1" dirty="0">
                <a:solidFill>
                  <a:srgbClr val="1A1A1A"/>
                </a:solidFill>
              </a:rPr>
              <a:t>"SKU 20 generates $24.39 blended RPV — nearly 10× more than SKU 10. </a:t>
            </a:r>
          </a:p>
          <a:p>
            <a:r>
              <a:rPr lang="en-US" sz="900" b="1" i="1" dirty="0">
                <a:solidFill>
                  <a:srgbClr val="1A1A1A"/>
                </a:solidFill>
              </a:rPr>
              <a:t>High AOV alone does not guarantee visit efficiency: SKU 12 leads on AOV but SKU 20 leads on RPV."</a:t>
            </a:r>
            <a:endParaRPr lang="en-US" sz="800" b="1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38912" y="4901184"/>
            <a:ext cx="66568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6872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Customer Signal — What's driving the gap?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7035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bg2">
                    <a:lumMod val="25000"/>
                  </a:schemeClr>
                </a:solidFill>
              </a:rPr>
              <a:t>| Monthly avg product rating vs avg conversion rate  | SKU-level trust tier analysis | </a:t>
            </a:r>
            <a:endParaRPr lang="en-US" sz="105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-50800" y="4889498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Yash Doshi | 2026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61467341"/>
              </p:ext>
            </p:extLst>
          </p:nvPr>
        </p:nvGraphicFramePr>
        <p:xfrm>
          <a:off x="274320" y="1197864"/>
          <a:ext cx="5010912" cy="174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551817328"/>
              </p:ext>
            </p:extLst>
          </p:nvPr>
        </p:nvGraphicFramePr>
        <p:xfrm>
          <a:off x="256032" y="3035808"/>
          <a:ext cx="5029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20396" y="10053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Monthly Avg Rating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20396" y="280390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Monthly Avg Conversion Rate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31536" y="674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SKU Ratings — Trust Tiers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67974"/>
              </p:ext>
            </p:extLst>
          </p:nvPr>
        </p:nvGraphicFramePr>
        <p:xfrm>
          <a:off x="5486400" y="932180"/>
          <a:ext cx="3383280" cy="3099816"/>
        </p:xfrm>
        <a:graphic>
          <a:graphicData uri="http://schemas.openxmlformats.org/drawingml/2006/table">
            <a:tbl>
              <a:tblPr/>
              <a:tblGrid>
                <a:gridCol w="62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Rating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Conv 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4.47 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</a:rPr>
                        <a:t>Strong trust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4.39 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96302"/>
                          </a:solidFill>
                        </a:rPr>
                        <a:t>High rating, low conv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4.38 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</a:rPr>
                        <a:t>Strong trust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</a:rPr>
                        <a:t>4.37  ★★★★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</a:rPr>
                        <a:t>Strong trust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</a:rPr>
                        <a:t>2.37  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4B4A"/>
                          </a:solidFill>
                        </a:rPr>
                        <a:t>Trust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</a:rPr>
                        <a:t>2.38  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4B4A"/>
                          </a:solidFill>
                        </a:rPr>
                        <a:t>Trust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SKU 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24B4A"/>
                          </a:solidFill>
                        </a:rPr>
                        <a:t>2.05  ★★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4B4A"/>
                          </a:solidFill>
                        </a:rPr>
                        <a:t>Trust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50800" y="4590289"/>
            <a:ext cx="9093200" cy="320040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-11176" y="4602480"/>
            <a:ext cx="155448" cy="310895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56032" y="4615178"/>
            <a:ext cx="8568182" cy="249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F96302"/>
                </a:solidFill>
              </a:rPr>
              <a:t>KEY MESSAGE: </a:t>
            </a:r>
            <a:r>
              <a:rPr lang="en-US" sz="900" b="1" i="1" kern="0" spc="150" dirty="0">
                <a:solidFill>
                  <a:srgbClr val="1A1A1A"/>
                </a:solidFill>
              </a:rPr>
              <a:t>Nove</a:t>
            </a:r>
            <a:r>
              <a:rPr lang="en-US" sz="900" b="1" i="1" dirty="0">
                <a:solidFill>
                  <a:srgbClr val="1A1A1A"/>
                </a:solidFill>
              </a:rPr>
              <a:t>mber (rating 3.75) and December (conv 1.67%) show the strongest paired performance — trust and timing are compounding. SKU 11 at 2.05 stars is the single largest trust liability in the portfolio."</a:t>
            </a:r>
            <a:endParaRPr lang="en-US" sz="900" b="1" dirty="0"/>
          </a:p>
        </p:txBody>
      </p:sp>
      <p:sp>
        <p:nvSpPr>
          <p:cNvPr id="17" name="Text 12"/>
          <p:cNvSpPr/>
          <p:nvPr/>
        </p:nvSpPr>
        <p:spPr>
          <a:xfrm>
            <a:off x="438912" y="4901184"/>
            <a:ext cx="83759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4008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YoY Growth Decomposition — Why did growth happen?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68097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bg2">
                    <a:lumMod val="25000"/>
                  </a:schemeClr>
                </a:solidFill>
              </a:rPr>
              <a:t>Sales growth vs Visits growth vs Orders growth  ·  Top 10 movers  ·  Traffic-led vs conversion-led growth</a:t>
            </a:r>
            <a:endParaRPr lang="en-US" sz="105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73624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| 2026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129125476"/>
              </p:ext>
            </p:extLst>
          </p:nvPr>
        </p:nvGraphicFramePr>
        <p:xfrm>
          <a:off x="256032" y="1035050"/>
          <a:ext cx="5486400" cy="3427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749808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749808"/>
            <a:ext cx="109728" cy="111556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8321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SKU 9 — Sales +26.2%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44768" y="1097280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Sales surged 26.2% despite visits falling 0.9% — growth was entirely conversion-led. Investigate what changed (price, content, reviews).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89320" y="1984248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1984248"/>
            <a:ext cx="109728" cy="111556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0665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SKU 12 — Sales +24.7%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44768" y="2331720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Strong growth driven by AOV increase ($900 AOV). Orders declined 1.1% — AOV is the engine here, not volume.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218688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218688"/>
            <a:ext cx="109728" cy="11155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300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SKU 13 — Orders +18.1%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44768" y="3566160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Orders grew 18.1% but visits fell 0.7% — a clear conversion efficiency improvement. Best practice to scale.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434839"/>
            <a:ext cx="9144000" cy="475489"/>
          </a:xfrm>
          <a:prstGeom prst="rect">
            <a:avLst/>
          </a:prstGeom>
          <a:solidFill>
            <a:srgbClr val="FDE8D5"/>
          </a:solidFill>
          <a:ln w="9525">
            <a:solidFill>
              <a:srgbClr val="FB8C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0" y="4434838"/>
            <a:ext cx="256032" cy="484889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4526279"/>
            <a:ext cx="8375904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150" dirty="0">
                <a:solidFill>
                  <a:srgbClr val="F96302"/>
                </a:solidFill>
              </a:rPr>
              <a:t>KEY MESSAGE : </a:t>
            </a:r>
            <a:r>
              <a:rPr lang="en-US" sz="1050" b="1" i="1" dirty="0">
                <a:solidFill>
                  <a:srgbClr val="1A1A1A"/>
                </a:solidFill>
              </a:rPr>
              <a:t>"</a:t>
            </a:r>
            <a:r>
              <a:rPr lang="en-US" sz="1050" b="1" i="1" dirty="0"/>
              <a:t>Revenue = Orders × AOV. Sales +10.3%, Orders +3.4% — the 6.9-point delta is Avg Order Value expansion, not volume growth. AOV gains are fragile; sustainable growth requires converting more of the 1.97M visits we already have.”</a:t>
            </a:r>
            <a:endParaRPr lang="en-US" sz="1000" b="1" i="1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13562" y="4462526"/>
            <a:ext cx="83759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44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3108960" cy="514350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2560320" cy="125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Key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Insights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C4E8"/>
                </a:solidFill>
              </a:rPr>
              <a:t>Analysis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2971800"/>
            <a:ext cx="2468880" cy="36576"/>
          </a:xfrm>
          <a:prstGeom prst="rect">
            <a:avLst/>
          </a:prstGeom>
          <a:solidFill>
            <a:srgbClr val="A8C4E8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C4E8"/>
                </a:solidFill>
              </a:rPr>
              <a:t>Weiser × Home Depot Canada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C4E8"/>
                </a:solidFill>
              </a:rPr>
              <a:t>| Yash Doshi | 2026 |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4343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8AA8C8"/>
                </a:solidFill>
              </a:rPr>
              <a:t>Data Note: Dataset contains fictional data created for this exercise. Not based on actual Home Depot performance.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10128" y="292608"/>
            <a:ext cx="5577840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402336"/>
            <a:ext cx="411480" cy="411480"/>
          </a:xfrm>
          <a:prstGeom prst="ellipse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402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384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Conversion gap — digital shelf priority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86200" y="704088"/>
            <a:ext cx="4892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High-traffic SKUs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(SKU 15 at 117K visits, SKU 17 at 114K) are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converting at under 0.65%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— the lowest in the portfolio. This is a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content and trust gap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, not a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demand problem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. Closing even half the gap to portfolio average (0.85%) would generate ~2,200 incremental orders annually.</a:t>
            </a:r>
          </a:p>
        </p:txBody>
      </p:sp>
      <p:sp>
        <p:nvSpPr>
          <p:cNvPr id="13" name="Shape 11"/>
          <p:cNvSpPr/>
          <p:nvPr/>
        </p:nvSpPr>
        <p:spPr>
          <a:xfrm>
            <a:off x="3310128" y="1819656"/>
            <a:ext cx="5577840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929384"/>
            <a:ext cx="411480" cy="411480"/>
          </a:xfrm>
          <a:prstGeom prst="ellipse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6200" y="191109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Monetization inefficiency — Blended Revenue Per Visit spread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86200" y="2231136"/>
            <a:ext cx="4892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Blended revenue per visit ranges from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$2.51 (SKU 10) to $24.39 (SKU 20)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—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nearly a 10× gap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. SKUs with the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highest store dependency (69%+)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indicate customers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discover online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but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purchase in-store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, making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PIP quality the primary sales lever across channels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3310128" y="3346704"/>
            <a:ext cx="5577840" cy="141732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01568" y="3456432"/>
            <a:ext cx="411480" cy="411480"/>
          </a:xfrm>
          <a:prstGeom prst="ellipse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34381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25000"/>
                  </a:schemeClr>
                </a:solidFill>
              </a:rPr>
              <a:t>Trust signals — ratings drive conversion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86200" y="3758184"/>
            <a:ext cx="4892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SKU 11, 10, and 9 carry average ratings below 2.5 stars 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and rank among the weakest converters and monetizers. </a:t>
            </a:r>
            <a:r>
              <a:rPr lang="en-US" sz="950" b="1" dirty="0">
                <a:solidFill>
                  <a:schemeClr val="bg2">
                    <a:lumMod val="25000"/>
                  </a:schemeClr>
                </a:solidFill>
              </a:rPr>
              <a:t>November (3.75 avg rating) shows the strongest blended performance</a:t>
            </a:r>
            <a:r>
              <a:rPr lang="en-US" sz="950" dirty="0">
                <a:solidFill>
                  <a:schemeClr val="bg2">
                    <a:lumMod val="25000"/>
                  </a:schemeClr>
                </a:solidFill>
              </a:rPr>
              <a:t>. Improving trust signals on low-rated SKUs is the highest-leverage content action available.</a:t>
            </a:r>
          </a:p>
        </p:txBody>
      </p:sp>
      <p:sp>
        <p:nvSpPr>
          <p:cNvPr id="23" name="Shape 21"/>
          <p:cNvSpPr/>
          <p:nvPr/>
        </p:nvSpPr>
        <p:spPr>
          <a:xfrm>
            <a:off x="3310128" y="4645152"/>
            <a:ext cx="5577840" cy="402336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46542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chemeClr val="bg1"/>
                </a:solidFill>
              </a:rPr>
              <a:t>Root cause: the digital shelf — the PIP — is not converting traffic it already has. The next slides show what those pages look like and what we do about it."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Digital Shelf Audit — The PIP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0896" y="61264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</a:rPr>
              <a:t>Live analysis of 4 Weiser product pages on HomeDepot.ca  ·  Issues annotated below</a:t>
            </a:r>
            <a:endParaRPr lang="en-US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 | 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896112"/>
            <a:ext cx="3931920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1440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9A9A"/>
                </a:solidFill>
              </a:rPr>
              <a:t>homedepot.ca › … › Branton x Daylon x Elements Electronic Deadbolt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01168" y="1097280"/>
            <a:ext cx="173004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84481" y="1097280"/>
            <a:ext cx="1948607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5355" y="1113679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</a:rPr>
              <a:t>Weiser Branton x Daylon x Elements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</a:rPr>
              <a:t>Electronic Deadbolt Matte Black…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20396" y="157663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A623"/>
                </a:solidFill>
              </a:rPr>
              <a:t>★★★☆☆  44 reviews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50592" y="1768655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CAD $189.00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267711"/>
            <a:ext cx="3950208" cy="318171"/>
          </a:xfrm>
          <a:prstGeom prst="rect">
            <a:avLst/>
          </a:prstGeom>
          <a:solidFill>
            <a:srgbClr val="F5F5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331287"/>
            <a:ext cx="39502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555555"/>
                </a:solidFill>
              </a:rPr>
              <a:t>OVERVIEW: </a:t>
            </a:r>
            <a:r>
              <a:rPr lang="en-US" sz="700" dirty="0">
                <a:solidFill>
                  <a:srgbClr val="555555"/>
                </a:solidFill>
              </a:rPr>
              <a:t>The Branton &amp; Daylon Safe Lock handles by Weiser were designed with one thought in mind, providing you with quality, dependability, and security. The perfect starter home package…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64592" y="3606917"/>
            <a:ext cx="3931920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3634349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55555"/>
                </a:solidFill>
              </a:rPr>
              <a:t>SPECIFICATIONS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" y="3817229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</a:rPr>
              <a:t>Connectivity: Not Connected  |  Smart Technology: No  |  Voice Assistant: None  |  BHMA Grade 3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64592" y="4137269"/>
            <a:ext cx="3931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4173845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</a:rPr>
              <a:t>Q&amp;A (6)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0401" y="1093580"/>
            <a:ext cx="2011680" cy="193913"/>
          </a:xfrm>
          <a:prstGeom prst="rect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837" y="1068411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24B4A"/>
                </a:solidFill>
              </a:rPr>
              <a:t>⚠ Title: 3 product names combined — confusing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2646259"/>
            <a:ext cx="3931920" cy="342730"/>
          </a:xfrm>
          <a:prstGeom prst="rect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69527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24B4A"/>
                </a:solidFill>
              </a:rPr>
              <a:t>🔴 CRITICAL: "Connectivity: Not Connected" on an electronic keypad lock — incorrect spec misleads buyers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3079" y="3044016"/>
            <a:ext cx="2242276" cy="220391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869" y="3015393"/>
            <a:ext cx="2365190" cy="30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5A623"/>
                </a:solidFill>
              </a:rPr>
              <a:t>⚠ Only 1 product image — no lifestyle, no install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3079" y="3341424"/>
            <a:ext cx="3931920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41" y="3330827"/>
            <a:ext cx="3840480" cy="19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5A623"/>
                </a:solidFill>
              </a:rPr>
              <a:t>⚠ Description is feature-led, not benefit-led — no "why buy this" story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15968" y="896112"/>
            <a:ext cx="36576" cy="384048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896112"/>
            <a:ext cx="4462272" cy="201168"/>
          </a:xfrm>
          <a:prstGeom prst="rect">
            <a:avLst/>
          </a:prstGeom>
          <a:solidFill>
            <a:srgbClr val="E8E8E8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914400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9A9A9A"/>
                </a:solidFill>
              </a:rPr>
              <a:t>homedepot.ca › … › Halifax Matte Black Hall/Closet Passage Interior Door Handle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533205" y="1097280"/>
            <a:ext cx="2409627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2451" y="113385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</a:rPr>
              <a:t>Weiser Halifax Matte Black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</a:rPr>
              <a:t>Hall/Closet Passage Interior Door Handle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622451" y="1591056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A623"/>
                </a:solidFill>
              </a:rPr>
              <a:t>★★★★☆  501 reviews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22451" y="17556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CAD $32.98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80560" y="2267712"/>
            <a:ext cx="4462272" cy="219456"/>
          </a:xfrm>
          <a:prstGeom prst="rect">
            <a:avLst/>
          </a:prstGeom>
          <a:solidFill>
            <a:srgbClr val="F5F5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53712" y="2267711"/>
            <a:ext cx="4407408" cy="34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555555"/>
                </a:solidFill>
              </a:rPr>
              <a:t>OVERVIEW : </a:t>
            </a:r>
            <a:r>
              <a:rPr lang="en-US" sz="700" dirty="0">
                <a:solidFill>
                  <a:srgbClr val="555555"/>
                </a:solidFill>
              </a:rPr>
              <a:t>Elements by Weiser was designed with one thought in mind, providing you with quality, dependability, and security. A </a:t>
            </a:r>
            <a:r>
              <a:rPr lang="en-US" sz="700" dirty="0" err="1">
                <a:solidFill>
                  <a:srgbClr val="555555"/>
                </a:solidFill>
              </a:rPr>
              <a:t>favoured</a:t>
            </a:r>
            <a:r>
              <a:rPr lang="en-US" sz="700" dirty="0">
                <a:solidFill>
                  <a:srgbClr val="555555"/>
                </a:solidFill>
              </a:rPr>
              <a:t> mix of styles and finishes ensure that you provide the look…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80560" y="3374136"/>
            <a:ext cx="4462272" cy="475488"/>
          </a:xfrm>
          <a:prstGeom prst="rect">
            <a:avLst/>
          </a:prstGeom>
          <a:solidFill>
            <a:srgbClr val="F5F5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53712" y="3394062"/>
            <a:ext cx="4261104" cy="439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b="1" dirty="0">
                <a:solidFill>
                  <a:srgbClr val="555555"/>
                </a:solidFill>
              </a:rPr>
              <a:t>SPECIFICATIONS : </a:t>
            </a:r>
            <a:r>
              <a:rPr lang="en-US" sz="800" dirty="0">
                <a:solidFill>
                  <a:srgbClr val="555555"/>
                </a:solidFill>
              </a:rPr>
              <a:t>Material: Zinc  |  Commercial/Residential: Residential  |  Handle Shape: Round  |  Rosette Shape: Round</a:t>
            </a:r>
            <a:endParaRPr lang="en-US" sz="800" dirty="0"/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53712" y="3447288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4480560" y="3767328"/>
            <a:ext cx="4462272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380390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</a:rPr>
              <a:t>Q&amp;A (38)  — 38 customer questions, largely unanswered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480560" y="2596896"/>
            <a:ext cx="2194560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35424" y="25968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5A623"/>
                </a:solidFill>
              </a:rPr>
              <a:t>⚠ Only 1 product image — no in-context shot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480560" y="2816352"/>
            <a:ext cx="4462272" cy="201168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35424" y="281635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5A623"/>
                </a:solidFill>
              </a:rPr>
              <a:t>⚠ "Passage" undefined for non-expert buyers — causes confusion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462272" y="3063344"/>
            <a:ext cx="4462272" cy="219456"/>
          </a:xfrm>
          <a:prstGeom prst="rect">
            <a:avLst/>
          </a:prstGeom>
          <a:solidFill>
            <a:srgbClr val="E24B4A">
              <a:alpha val="1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98848" y="3020071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24B4A"/>
                </a:solidFill>
              </a:rPr>
              <a:t>🔴 38 unanswered Q&amp;As = 38 lost conversions. Each question = missing PIP content.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01168" y="4636008"/>
            <a:ext cx="8741664" cy="22860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" y="4636008"/>
            <a:ext cx="8577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PORTFOLIO FINDING:  The two PIPs audited share the same pattern —unanswered Q&amp;As driving customer hesitation.</a:t>
            </a:r>
            <a:endParaRPr lang="en-US" sz="85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CA39D051-8C07-363D-760F-0923A517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3" y="1365299"/>
            <a:ext cx="1096116" cy="7837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E144F94-64F7-611D-D73C-029D15F46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580" y="1182853"/>
            <a:ext cx="1114528" cy="10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8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Customer Journey — Online Discovery → PIP → In-Store Purchase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0896" y="61264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</a:rPr>
              <a:t>60–70% of Weiser revenue closes in-store  ·  The PIP is the single decision-making touchpoint between traffic and sale</a:t>
            </a:r>
            <a:endParaRPr lang="en-US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 | 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2706624" cy="47548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923544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B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89611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9784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F9B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426464"/>
            <a:ext cx="2706624" cy="749808"/>
          </a:xfrm>
          <a:prstGeom prst="rect">
            <a:avLst/>
          </a:prstGeom>
          <a:solidFill>
            <a:srgbClr val="D6E4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426464"/>
            <a:ext cx="73152" cy="74980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47218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B4F9B"/>
                </a:solidFill>
              </a:rPr>
              <a:t>ONLINE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048" y="163677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Searches "keyless door lock" on HD.ca or Google → lands on PIP via search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221992"/>
            <a:ext cx="2706624" cy="749808"/>
          </a:xfrm>
          <a:prstGeom prst="rect">
            <a:avLst/>
          </a:prstGeom>
          <a:solidFill>
            <a:srgbClr val="FDE8D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221992"/>
            <a:ext cx="73152" cy="74980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26771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F96302"/>
                </a:solidFill>
              </a:rPr>
              <a:t>IN-STORE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4048" y="243230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Sees in-store aisle display or staff recommendation → directed online for more info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017520"/>
            <a:ext cx="2706624" cy="749808"/>
          </a:xfrm>
          <a:prstGeom prst="rect">
            <a:avLst/>
          </a:prstGeom>
          <a:solidFill>
            <a:srgbClr val="F0F0F0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017520"/>
            <a:ext cx="7315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63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555555"/>
                </a:solidFill>
              </a:rPr>
              <a:t>PIP ROLE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322783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Product title + hero image = the only assets customer sees before clicking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813048"/>
            <a:ext cx="2706624" cy="749808"/>
          </a:xfrm>
          <a:prstGeom prst="rect">
            <a:avLst/>
          </a:prstGeom>
          <a:solidFill>
            <a:srgbClr val="FDEAEA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813048"/>
            <a:ext cx="73152" cy="7498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85876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E24B4A"/>
                </a:solidFill>
              </a:rPr>
              <a:t>GAP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4048" y="40233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Confusing multi-name titles and a single white-background image fail to earn the click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896112"/>
            <a:ext cx="2706624" cy="47548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923544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302"/>
                </a:solidFill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94176" y="89611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PIP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(Decision Moment)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61888" y="9784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6302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0" y="1426464"/>
            <a:ext cx="2706624" cy="749808"/>
          </a:xfrm>
          <a:prstGeom prst="rect">
            <a:avLst/>
          </a:prstGeom>
          <a:solidFill>
            <a:srgbClr val="D6E4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1426464"/>
            <a:ext cx="73152" cy="74980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147218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B4F9B"/>
                </a:solidFill>
              </a:rPr>
              <a:t>ONLINE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28416" y="163677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A1A1A"/>
                </a:solidFill>
              </a:rPr>
              <a:t>Reads description, checks specs, browses images, scans reviews and Q&amp;As to decide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0" y="2221992"/>
            <a:ext cx="2706624" cy="749808"/>
          </a:xfrm>
          <a:prstGeom prst="rect">
            <a:avLst/>
          </a:prstGeom>
          <a:solidFill>
            <a:srgbClr val="FDE8D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221992"/>
            <a:ext cx="73152" cy="74980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8416" y="226771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F96302"/>
                </a:solidFill>
              </a:rPr>
              <a:t>IN-STORE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28416" y="243230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Picks up box, reads packaging, compares products on the shelf side-by-side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3017520"/>
            <a:ext cx="2706624" cy="749808"/>
          </a:xfrm>
          <a:prstGeom prst="rect">
            <a:avLst/>
          </a:prstGeom>
          <a:solidFill>
            <a:srgbClr val="F0F0F0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3017520"/>
            <a:ext cx="7315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3063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555555"/>
                </a:solidFill>
              </a:rPr>
              <a:t>PIP ROLE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328416" y="322783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The PIP must replicate what the box does in-store — answer every question, build trust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3813048"/>
            <a:ext cx="2706624" cy="749808"/>
          </a:xfrm>
          <a:prstGeom prst="rect">
            <a:avLst/>
          </a:prstGeom>
          <a:solidFill>
            <a:srgbClr val="FDEAEA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3813048"/>
            <a:ext cx="73152" cy="7498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8416" y="385876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E24B4A"/>
                </a:solidFill>
              </a:rPr>
              <a:t>GAP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328416" y="40233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1 image, generic copy, unanswered Q&amp;As and spec errors → customer cannot decide → exits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44768" y="896112"/>
            <a:ext cx="2706624" cy="47548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923544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9B"/>
                </a:solidFill>
              </a:rPr>
              <a:t>03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638544" y="89611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Purchase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44768" y="1426464"/>
            <a:ext cx="2706624" cy="749808"/>
          </a:xfrm>
          <a:prstGeom prst="rect">
            <a:avLst/>
          </a:prstGeom>
          <a:solidFill>
            <a:srgbClr val="D6E4F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44768" y="1426464"/>
            <a:ext cx="73152" cy="749808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2784" y="147218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1B4F9B"/>
                </a:solidFill>
              </a:rPr>
              <a:t>ONLINE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272784" y="1636776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A1A1A"/>
                </a:solidFill>
              </a:rPr>
              <a:t>Adds to cart online (30–40%) or takes SKU number to nearest Home Depot store</a:t>
            </a:r>
          </a:p>
        </p:txBody>
      </p:sp>
      <p:sp>
        <p:nvSpPr>
          <p:cNvPr id="58" name="Shape 56"/>
          <p:cNvSpPr/>
          <p:nvPr/>
        </p:nvSpPr>
        <p:spPr>
          <a:xfrm>
            <a:off x="6144768" y="2221992"/>
            <a:ext cx="2706624" cy="749808"/>
          </a:xfrm>
          <a:prstGeom prst="rect">
            <a:avLst/>
          </a:prstGeom>
          <a:solidFill>
            <a:srgbClr val="FDE8D5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44768" y="2221992"/>
            <a:ext cx="73152" cy="74980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72784" y="226771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F96302"/>
                </a:solidFill>
              </a:rPr>
              <a:t>IN-STORE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72784" y="243230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A1A1A"/>
                </a:solidFill>
              </a:rPr>
              <a:t>Staff converts — customer arrives pre-sold on a Weiser SKU found via online research</a:t>
            </a:r>
          </a:p>
        </p:txBody>
      </p:sp>
      <p:sp>
        <p:nvSpPr>
          <p:cNvPr id="62" name="Shape 60"/>
          <p:cNvSpPr/>
          <p:nvPr/>
        </p:nvSpPr>
        <p:spPr>
          <a:xfrm>
            <a:off x="6144768" y="3017520"/>
            <a:ext cx="2706624" cy="749808"/>
          </a:xfrm>
          <a:prstGeom prst="rect">
            <a:avLst/>
          </a:prstGeom>
          <a:solidFill>
            <a:srgbClr val="F0F0F0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44768" y="3017520"/>
            <a:ext cx="73152" cy="7498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72784" y="306324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555555"/>
                </a:solidFill>
              </a:rPr>
              <a:t>PIP ROLE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272784" y="322783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A1A1A"/>
                </a:solidFill>
              </a:rPr>
              <a:t>A strong PIP builds enough confidence to either buy online OR walk into a store committed</a:t>
            </a:r>
          </a:p>
        </p:txBody>
      </p:sp>
      <p:sp>
        <p:nvSpPr>
          <p:cNvPr id="66" name="Shape 64"/>
          <p:cNvSpPr/>
          <p:nvPr/>
        </p:nvSpPr>
        <p:spPr>
          <a:xfrm>
            <a:off x="6108192" y="3803904"/>
            <a:ext cx="2706624" cy="749808"/>
          </a:xfrm>
          <a:prstGeom prst="rect">
            <a:avLst/>
          </a:prstGeom>
          <a:solidFill>
            <a:srgbClr val="FDEAEA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44768" y="3813048"/>
            <a:ext cx="73152" cy="7498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72784" y="385876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E24B4A"/>
                </a:solidFill>
              </a:rPr>
              <a:t>GAP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72784" y="40233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Weak PIPs send undecided customers to Schlage or elsewhere — not to store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56032" y="4645152"/>
            <a:ext cx="8631936" cy="210312"/>
          </a:xfrm>
          <a:prstGeom prst="rect">
            <a:avLst/>
          </a:prstGeom>
          <a:solidFill>
            <a:srgbClr val="FDE8D5"/>
          </a:solidFill>
          <a:ln w="6350">
            <a:solidFill>
              <a:srgbClr val="F9630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6032" y="4645152"/>
            <a:ext cx="73152" cy="21031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4645152"/>
            <a:ext cx="8430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1A1A"/>
                </a:solidFill>
              </a:rPr>
              <a:t>"The PIP is not a support page — it is the most critical sales asset in the Weiser omnichannel funnel."</a:t>
            </a:r>
            <a:endParaRPr 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063735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Recommendations — Prioritized Digital Shelf Actions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0896" y="61264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bg2">
                    <a:lumMod val="25000"/>
                  </a:schemeClr>
                </a:solidFill>
              </a:rPr>
              <a:t>All actions are within the PIP  ·  No pricing, promotions, advertising, or UX outside product pages</a:t>
            </a:r>
            <a:endParaRPr lang="en-US" sz="1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 | 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" y="886968"/>
            <a:ext cx="2724912" cy="45720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8696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Optimization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9424" y="905256"/>
            <a:ext cx="640080" cy="182880"/>
          </a:xfrm>
          <a:prstGeom prst="rect">
            <a:avLst/>
          </a:prstGeom>
          <a:solidFill>
            <a:srgbClr val="FEC99A"/>
          </a:solidFill>
          <a:ln w="12700">
            <a:solidFill>
              <a:srgbClr val="FEC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905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44D00"/>
                </a:solidFill>
              </a:rPr>
              <a:t>HIGH PRIORITY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01168" y="1399032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399032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Fix spec errors immediately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65506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chemeClr val="bg2">
                    <a:lumMod val="25000"/>
                  </a:schemeClr>
                </a:solidFill>
              </a:rPr>
              <a:t>Correct "Connectivity: Not Connected" on Branton and any inaccurate attributes across all 166 SKUs. This is a live error losing sales today.</a:t>
            </a:r>
          </a:p>
        </p:txBody>
      </p:sp>
      <p:sp>
        <p:nvSpPr>
          <p:cNvPr id="16" name="Shape 14"/>
          <p:cNvSpPr/>
          <p:nvPr/>
        </p:nvSpPr>
        <p:spPr>
          <a:xfrm>
            <a:off x="201168" y="2240280"/>
            <a:ext cx="2724912" cy="804672"/>
          </a:xfrm>
          <a:prstGeom prst="rect">
            <a:avLst/>
          </a:prstGeom>
          <a:solidFill>
            <a:srgbClr val="FDE8D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2240280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304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Rewrite product titles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49631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Use: Brand + Line + Function + Finish. Remove multi-name constructs. E.g. "Weiser Elements Electronic Deadbolt — Matte Black."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1168" y="3081528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081528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1455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Lead with customer benefit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33375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"Never fumble for keys again" before "5-button keypad." Connect features to outcomes in every product description.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3922776"/>
            <a:ext cx="2724912" cy="804672"/>
          </a:xfrm>
          <a:prstGeom prst="rect">
            <a:avLst/>
          </a:prstGeom>
          <a:solidFill>
            <a:srgbClr val="FDE8D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3922776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9867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Convert Q&amp;As into FAQ copy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417880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Halifax's 38 questions are a content brief. Each answer belongs in the body copy — not buried in Q&amp;A that most buyers never read.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08960" y="886968"/>
            <a:ext cx="2724912" cy="45720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88696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&amp; Findability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28616" y="905256"/>
            <a:ext cx="868680" cy="182880"/>
          </a:xfrm>
          <a:prstGeom prst="rect">
            <a:avLst/>
          </a:prstGeom>
          <a:solidFill>
            <a:srgbClr val="A8C4E8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28616" y="9052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4F9B"/>
                </a:solidFill>
              </a:rPr>
              <a:t>MEDIUM PRIORITY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108960" y="1399032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1399032"/>
            <a:ext cx="73152" cy="80467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55264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Keyword-align all titles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55264" y="165506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Include "keyless entry," "smart lock," "Canadian weather tested" — terms customers search. Missing keywords = invisible in HD.ca search results.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08960" y="2240280"/>
            <a:ext cx="2724912" cy="804672"/>
          </a:xfrm>
          <a:prstGeom prst="rect">
            <a:avLst/>
          </a:prstGeom>
          <a:solidFill>
            <a:srgbClr val="D6E4F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0" y="2240280"/>
            <a:ext cx="73152" cy="80467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55264" y="2304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Complete all attribute fields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55264" y="249631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Smart Technology, Connectivity, Voice Assistant, BHMA Grade drive filtered search. Blank or wrong values exclude products from results.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08960" y="3081528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08960" y="3081528"/>
            <a:ext cx="73152" cy="80467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55264" y="31455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Add descriptive image alt-text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55264" y="33375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Alt-text on product images contributes to on-site search ranking. Describe: finish, function, and use case on every image.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108960" y="3922776"/>
            <a:ext cx="2724912" cy="804672"/>
          </a:xfrm>
          <a:prstGeom prst="rect">
            <a:avLst/>
          </a:prstGeom>
          <a:solidFill>
            <a:srgbClr val="D6E4F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08960" y="3922776"/>
            <a:ext cx="73152" cy="80467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5264" y="39867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Audit category taxonomy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55264" y="417880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Ensure all smart lock SKUs appear under "Electronic Door Locks" and "Smart Locks" sub-categories to surface in filtered browsing.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16752" y="886968"/>
            <a:ext cx="2724912" cy="457200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88696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Digital Shelf Enhancements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65008" y="905256"/>
            <a:ext cx="640080" cy="182880"/>
          </a:xfrm>
          <a:prstGeom prst="rect">
            <a:avLst/>
          </a:prstGeom>
          <a:solidFill>
            <a:srgbClr val="FEC99A"/>
          </a:solidFill>
          <a:ln w="12700">
            <a:solidFill>
              <a:srgbClr val="FEC9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90525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44D00"/>
                </a:solidFill>
              </a:rPr>
              <a:t>HIGH PRIORITY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016752" y="1399032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16752" y="1399032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146304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Expand to 5+ images per SKU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63056" y="1655064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Add: lifestyle (installed on door), installation, finish close-up, scale reference, packaging. A single white-bg image does not close a $200–$900 purchase.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16752" y="2240280"/>
            <a:ext cx="2724912" cy="804672"/>
          </a:xfrm>
          <a:prstGeom prst="rect">
            <a:avLst/>
          </a:prstGeom>
          <a:solidFill>
            <a:srgbClr val="FDE8D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16752" y="2240280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63056" y="230428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Embed installation video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63056" y="2496312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60–90 sec how-to video on the PIP reduces returns, increases reviews, and keeps buyers on-page. Prioritize Halifax (501 reviews, 38 Q&amp;As).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016752" y="3081528"/>
            <a:ext cx="272491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4E4E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016752" y="3081528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63056" y="31455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Add SmartKey brand module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63056" y="3337560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A short on-page section explaining SmartKey re-keying technology differentiates Weiser from Schlage and justifies the premium to first-time buyers.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016752" y="3922776"/>
            <a:ext cx="2724912" cy="804672"/>
          </a:xfrm>
          <a:prstGeom prst="rect">
            <a:avLst/>
          </a:prstGeom>
          <a:solidFill>
            <a:srgbClr val="FDE8D5"/>
          </a:solidFill>
          <a:ln w="5080">
            <a:solidFill>
              <a:srgbClr val="E4E4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16752" y="3922776"/>
            <a:ext cx="73152" cy="80467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63056" y="398678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</a:rPr>
              <a:t>"Which Weiser is right for me?"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163056" y="4178808"/>
            <a:ext cx="2523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55555"/>
                </a:solidFill>
              </a:rPr>
              <a:t>A simple comparison guide between Elements, Welcome Home, and Collections on high-traffic PIPs eliminates cross-portfolio confusion and reduces decision drop-off.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01168" y="4645152"/>
            <a:ext cx="8741664" cy="210312"/>
          </a:xfrm>
          <a:prstGeom prst="rect">
            <a:avLst/>
          </a:prstGeom>
          <a:solidFill>
            <a:srgbClr val="FDE8D5"/>
          </a:solidFill>
          <a:ln w="6350">
            <a:solidFill>
              <a:srgbClr val="F9630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1168" y="4645152"/>
            <a:ext cx="73152" cy="21031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4645152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1A1A"/>
                </a:solidFill>
              </a:rPr>
              <a:t>KEY MESSAGE:  "None of these actions touch pricing, promotions, or advertising. Every recommendation is within the PIP — the one digital asset Weiser and Home Depot control together."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896022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12-Month Project Plan — Digital Shelf Execution Roadmap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10896" y="61264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chemeClr val="bg2">
                    <a:lumMod val="25000"/>
                  </a:schemeClr>
                </a:solidFill>
              </a:rPr>
              <a:t>Three phases -&gt; Diagnose &amp; Fix  -&gt; Build &amp; Enrich  -&gt; Scale &amp; Optimize  Note: KPIs tracked monthly</a:t>
            </a:r>
            <a:endParaRPr lang="en-US" sz="105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DE8D5"/>
          </a:solidFill>
          <a:ln w="12700">
            <a:solidFill>
              <a:srgbClr val="FDE8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6302"/>
                </a:solidFill>
              </a:rPr>
              <a:t>Weiser × Home Depot Canada  |  Yash Doshi  | 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886968"/>
            <a:ext cx="2743200" cy="38404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869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Months 1–3  ·  Phase 1: Diagnose &amp; Fix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886968"/>
            <a:ext cx="4206240" cy="384048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886968"/>
            <a:ext cx="4078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Months 4–8  ·  Phase 2: Build &amp; Enrich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08192" y="886968"/>
            <a:ext cx="2231136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8869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Months 9–12  ·  Phase 3: Scale &amp; Optimize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298448"/>
            <a:ext cx="682752" cy="237744"/>
          </a:xfrm>
          <a:prstGeom prst="rect">
            <a:avLst/>
          </a:prstGeom>
          <a:solidFill>
            <a:srgbClr val="FDEAEA"/>
          </a:solidFill>
          <a:ln w="3810">
            <a:solidFill>
              <a:srgbClr val="E24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Jan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75360" y="1298448"/>
            <a:ext cx="682752" cy="237744"/>
          </a:xfrm>
          <a:prstGeom prst="rect">
            <a:avLst/>
          </a:prstGeom>
          <a:solidFill>
            <a:srgbClr val="FDEAEA"/>
          </a:solidFill>
          <a:ln w="381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Feb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4688" y="1298448"/>
            <a:ext cx="682752" cy="237744"/>
          </a:xfrm>
          <a:prstGeom prst="rect">
            <a:avLst/>
          </a:prstGeom>
          <a:solidFill>
            <a:srgbClr val="FDEAEA"/>
          </a:solidFill>
          <a:ln w="381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4688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</a:rPr>
              <a:t>Mar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14016" y="1298448"/>
            <a:ext cx="682752" cy="237744"/>
          </a:xfrm>
          <a:prstGeom prst="rect">
            <a:avLst/>
          </a:prstGeom>
          <a:solidFill>
            <a:srgbClr val="FDE8D5"/>
          </a:solidFill>
          <a:ln w="3810">
            <a:solidFill>
              <a:srgbClr val="F963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4016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302"/>
                </a:solidFill>
              </a:rPr>
              <a:t>Apr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33344" y="1298448"/>
            <a:ext cx="682752" cy="237744"/>
          </a:xfrm>
          <a:prstGeom prst="rect">
            <a:avLst/>
          </a:prstGeom>
          <a:solidFill>
            <a:srgbClr val="FDE8D5"/>
          </a:solidFill>
          <a:ln w="3810">
            <a:solidFill>
              <a:srgbClr val="F9630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3344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302"/>
                </a:solidFill>
              </a:rPr>
              <a:t>May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52672" y="1298448"/>
            <a:ext cx="682752" cy="237744"/>
          </a:xfrm>
          <a:prstGeom prst="rect">
            <a:avLst/>
          </a:prstGeom>
          <a:solidFill>
            <a:srgbClr val="FDE8D5"/>
          </a:solidFill>
          <a:ln w="3810">
            <a:solidFill>
              <a:srgbClr val="F9630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2672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302"/>
                </a:solidFill>
              </a:rPr>
              <a:t>Jun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298448"/>
            <a:ext cx="682752" cy="237744"/>
          </a:xfrm>
          <a:prstGeom prst="rect">
            <a:avLst/>
          </a:prstGeom>
          <a:solidFill>
            <a:srgbClr val="FDE8D5"/>
          </a:solidFill>
          <a:ln w="3810">
            <a:solidFill>
              <a:srgbClr val="F9630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302"/>
                </a:solidFill>
              </a:rPr>
              <a:t>Jul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91328" y="1298448"/>
            <a:ext cx="682752" cy="237744"/>
          </a:xfrm>
          <a:prstGeom prst="rect">
            <a:avLst/>
          </a:prstGeom>
          <a:solidFill>
            <a:srgbClr val="FDE8D5"/>
          </a:solidFill>
          <a:ln w="3810">
            <a:solidFill>
              <a:srgbClr val="F9630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1328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6302"/>
                </a:solidFill>
              </a:rPr>
              <a:t>Aug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10656" y="1298448"/>
            <a:ext cx="682752" cy="237744"/>
          </a:xfrm>
          <a:prstGeom prst="rect">
            <a:avLst/>
          </a:prstGeom>
          <a:solidFill>
            <a:srgbClr val="E6F7F1"/>
          </a:solidFill>
          <a:ln w="381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0656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Sep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29984" y="1298448"/>
            <a:ext cx="682752" cy="237744"/>
          </a:xfrm>
          <a:prstGeom prst="rect">
            <a:avLst/>
          </a:prstGeom>
          <a:solidFill>
            <a:srgbClr val="E6F7F1"/>
          </a:solidFill>
          <a:ln w="381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Oct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49312" y="1298448"/>
            <a:ext cx="682752" cy="237744"/>
          </a:xfrm>
          <a:prstGeom prst="rect">
            <a:avLst/>
          </a:prstGeom>
          <a:solidFill>
            <a:srgbClr val="E6F7F1"/>
          </a:solidFill>
          <a:ln w="381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9312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Nov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68640" y="1298448"/>
            <a:ext cx="682752" cy="237744"/>
          </a:xfrm>
          <a:prstGeom prst="rect">
            <a:avLst/>
          </a:prstGeom>
          <a:solidFill>
            <a:srgbClr val="E6F7F1"/>
          </a:solidFill>
          <a:ln w="381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68640" y="1298448"/>
            <a:ext cx="682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Dec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6032" y="1563624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563624"/>
            <a:ext cx="73152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Spec &amp; attribute audit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42032" y="1609344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70860" y="1609344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99688" y="1609344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28516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57344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86172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43828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72656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01484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30312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59140" y="1609344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6032" y="1920240"/>
            <a:ext cx="2286000" cy="32918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" y="1920240"/>
            <a:ext cx="73152" cy="32918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1956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Title rewrite — priority SKUs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42032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70860" y="1965960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99688" y="1965960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28516" y="1965960"/>
            <a:ext cx="510540" cy="23774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57344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86172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15000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3828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72656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01484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30312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59140" y="1965960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6032" y="2276856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6032" y="2276856"/>
            <a:ext cx="73152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Description enrichment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42032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70860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99688" y="2322576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28516" y="2322576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57344" y="2322576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86172" y="2322576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15000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43828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72656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01484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30312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59140" y="2322576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56032" y="2633472"/>
            <a:ext cx="2286000" cy="32918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" y="2633472"/>
            <a:ext cx="73152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4048" y="2670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Image gallery expansion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542032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70860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99688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8516" y="2679192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657344" y="2679192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186172" y="2679192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715000" y="2679192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3828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72656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01484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30312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59140" y="2679192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56032" y="2990088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56032" y="2990088"/>
            <a:ext cx="73152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4048" y="3026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Installation video content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542032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070860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99688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128516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57344" y="3035808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86172" y="3035808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715000" y="3035808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43828" y="3035808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72656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301484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30312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59140" y="3035808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6032" y="3346704"/>
            <a:ext cx="2286000" cy="32918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56032" y="3346704"/>
            <a:ext cx="73152" cy="32918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4048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SmartKey brand module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2542032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070860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599688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28516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57344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86172" y="3392424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15000" y="3392424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43828" y="3392424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72656" y="3392424"/>
            <a:ext cx="510540" cy="237744"/>
          </a:xfrm>
          <a:prstGeom prst="rect">
            <a:avLst/>
          </a:prstGeom>
          <a:solidFill>
            <a:srgbClr val="F96302"/>
          </a:solidFill>
          <a:ln w="12700">
            <a:solidFill>
              <a:srgbClr val="F9630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301484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830312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359140" y="3392424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6032" y="3703320"/>
            <a:ext cx="22860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56032" y="3703320"/>
            <a:ext cx="73152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84048" y="3739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Search keyword optimization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2542032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70860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99688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128516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57344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186172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715000" y="3749040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43828" y="3749040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72656" y="3749040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301484" y="3749040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30312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59140" y="3749040"/>
            <a:ext cx="5105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56032" y="4059936"/>
            <a:ext cx="2286000" cy="32918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56032" y="4059936"/>
            <a:ext cx="73152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84048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1A"/>
                </a:solidFill>
              </a:rPr>
              <a:t>Performance review + scale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542032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70860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599688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128516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57344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186172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15000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243828" y="4105656"/>
            <a:ext cx="510540" cy="237744"/>
          </a:xfrm>
          <a:prstGeom prst="rect">
            <a:avLst/>
          </a:prstGeom>
          <a:solidFill>
            <a:srgbClr val="F7F7F7"/>
          </a:solidFill>
          <a:ln w="3810">
            <a:solidFill>
              <a:srgbClr val="E4E4E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772656" y="4105656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301484" y="4105656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30312" y="4105656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372856" y="4105656"/>
            <a:ext cx="510540" cy="23774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56032" y="4636008"/>
            <a:ext cx="8631936" cy="219456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47472" y="4636008"/>
            <a:ext cx="8467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KPIs TRACKED MONTHLY:  Conversion Rate (%) per SKU | Blended RPV | Q&amp;A Response Rate | Image Count per PIP | Online Orders Growth |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81075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2531</Words>
  <Application>Microsoft Office PowerPoint</Application>
  <PresentationFormat>On-screen Show (16:9)</PresentationFormat>
  <Paragraphs>367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Weiser × Home Depot Canada — eCommerce Performance Review 2025</dc:title>
  <dc:subject>PptxGenJS Presentation</dc:subject>
  <dc:creator>PptxGenJS</dc:creator>
  <cp:lastModifiedBy>Yash Doshi</cp:lastModifiedBy>
  <cp:revision>6</cp:revision>
  <dcterms:created xsi:type="dcterms:W3CDTF">2026-04-01T02:47:17Z</dcterms:created>
  <dcterms:modified xsi:type="dcterms:W3CDTF">2026-04-01T08:29:10Z</dcterms:modified>
</cp:coreProperties>
</file>